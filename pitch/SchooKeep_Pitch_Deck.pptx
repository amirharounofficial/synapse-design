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A daily overview brings care activity, documents, alerts, and staff visibility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Clinical operations span student lookup, visits, documentation, and emergency escalation.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Daily doses, conflict states, and inventory are represented in the clinical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A physician workspace supports protocol review, escalations, and scheduling.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The parent app brings health, medication, and document workflows into a familiar mobile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Consent and authorized pickup screens show the link between school operations and guardians.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Teachers have focused views for attendance, health considerations, referrals, and exemptions.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Security and transport have dedicated operational views.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Allergen alerts and point-of-sale workflows extend the product beyond the clinic.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Counselor and secretary screens broaden the operational footprint.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Permission, audit, and readiness views support accountable school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captured from the Flutter release build using a local seeded Laravel backend and supplied admin account. Demo data; no claim of production use. The app includes English/Arabic localization and contextual school system states.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SCHOOL HEALTH, CONNECTED</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SchooKeep</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A shared operating layer for school health, family communication, and student safety.</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01</a:t>
            </a:r>
          </a:p>
        </p:txBody>
      </p:sp>
      <p:sp>
        <p:nvSpPr>
          <p:cNvPr id="9" name="TextBox 8"/>
          <p:cNvSpPr txBox="1"/>
          <p:nvPr/>
        </p:nvSpPr>
        <p:spPr>
          <a:xfrm>
            <a:off x="594360" y="2697480"/>
            <a:ext cx="4800600" cy="2103120"/>
          </a:xfrm>
          <a:prstGeom prst="rect">
            <a:avLst/>
          </a:prstGeom>
          <a:noFill/>
        </p:spPr>
        <p:txBody>
          <a:bodyPr wrap="square" lIns="0" rIns="0" tIns="0" bIns="0">
            <a:spAutoFit/>
          </a:bodyPr>
          <a:lstStyle/>
          <a:p>
            <a:pPr>
              <a:spcAft>
                <a:spcPts val="1000"/>
              </a:spcAft>
              <a:defRPr sz="3000" b="1">
                <a:solidFill>
                  <a:srgbClr val="142822"/>
                </a:solidFill>
                <a:latin typeface="Arial"/>
              </a:defRPr>
            </a:pPr>
            <a:r>
              <a:t>Better handoffs.</a:t>
            </a:r>
          </a:p>
          <a:p>
            <a:pPr>
              <a:spcAft>
                <a:spcPts val="1000"/>
              </a:spcAft>
              <a:defRPr sz="3000" b="1">
                <a:solidFill>
                  <a:srgbClr val="142822"/>
                </a:solidFill>
                <a:latin typeface="Arial"/>
              </a:defRPr>
            </a:pPr>
            <a:r>
              <a:t>Clearer accountability.</a:t>
            </a:r>
          </a:p>
          <a:p>
            <a:pPr>
              <a:spcAft>
                <a:spcPts val="1000"/>
              </a:spcAft>
              <a:defRPr sz="3000" b="1">
                <a:solidFill>
                  <a:srgbClr val="142822"/>
                </a:solidFill>
                <a:latin typeface="Arial"/>
              </a:defRPr>
            </a:pPr>
            <a:r>
              <a:t>One school community.</a:t>
            </a:r>
          </a:p>
        </p:txBody>
      </p:sp>
      <p:sp>
        <p:nvSpPr>
          <p:cNvPr id="10" name="TextBox 9"/>
          <p:cNvSpPr txBox="1"/>
          <p:nvPr/>
        </p:nvSpPr>
        <p:spPr>
          <a:xfrm>
            <a:off x="594360" y="5212080"/>
            <a:ext cx="4572000" cy="731520"/>
          </a:xfrm>
          <a:prstGeom prst="rect">
            <a:avLst/>
          </a:prstGeom>
          <a:noFill/>
        </p:spPr>
        <p:txBody>
          <a:bodyPr wrap="square" lIns="0" rIns="0" tIns="0" bIns="0">
            <a:spAutoFit/>
          </a:bodyPr>
          <a:lstStyle/>
          <a:p>
            <a:pPr>
              <a:spcAft>
                <a:spcPts val="1000"/>
              </a:spcAft>
              <a:defRPr sz="1500" b="0">
                <a:solidFill>
                  <a:srgbClr val="5B7069"/>
                </a:solidFill>
                <a:latin typeface="Arial"/>
              </a:defRPr>
            </a:pPr>
            <a:r>
              <a:t>Flutter product demonstration</a:t>
            </a:r>
          </a:p>
          <a:p>
            <a:pPr>
              <a:spcAft>
                <a:spcPts val="1000"/>
              </a:spcAft>
              <a:defRPr sz="1500" b="0">
                <a:solidFill>
                  <a:srgbClr val="5B7069"/>
                </a:solidFill>
                <a:latin typeface="Arial"/>
              </a:defRPr>
            </a:pPr>
            <a:r>
              <a:t>Local demo data, captured from the running app</a:t>
            </a:r>
          </a:p>
        </p:txBody>
      </p:sp>
      <p:sp>
        <p:nvSpPr>
          <p:cNvPr id="11" name="Rectangle 10"/>
          <p:cNvSpPr/>
          <p:nvPr/>
        </p:nvSpPr>
        <p:spPr>
          <a:xfrm>
            <a:off x="5719572" y="2199132"/>
            <a:ext cx="1874874" cy="3968496"/>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rincipal-home.png"/>
          <p:cNvPicPr>
            <a:picLocks noChangeAspect="1"/>
          </p:cNvPicPr>
          <p:nvPr/>
        </p:nvPicPr>
        <p:blipFill>
          <a:blip r:embed="rId2"/>
          <a:stretch>
            <a:fillRect/>
          </a:stretch>
        </p:blipFill>
        <p:spPr>
          <a:xfrm>
            <a:off x="5760720" y="2240280"/>
            <a:ext cx="1792578" cy="3886200"/>
          </a:xfrm>
          <a:prstGeom prst="rect">
            <a:avLst/>
          </a:prstGeom>
        </p:spPr>
      </p:pic>
      <p:sp>
        <p:nvSpPr>
          <p:cNvPr id="13" name="TextBox 12"/>
          <p:cNvSpPr txBox="1"/>
          <p:nvPr/>
        </p:nvSpPr>
        <p:spPr>
          <a:xfrm>
            <a:off x="5669280" y="6245352"/>
            <a:ext cx="1975458"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School leadership</a:t>
            </a:r>
          </a:p>
        </p:txBody>
      </p:sp>
      <p:sp>
        <p:nvSpPr>
          <p:cNvPr id="14" name="Rectangle 13"/>
          <p:cNvSpPr/>
          <p:nvPr/>
        </p:nvSpPr>
        <p:spPr>
          <a:xfrm>
            <a:off x="8188452" y="2199132"/>
            <a:ext cx="1874874" cy="3968496"/>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arent-app-home.png"/>
          <p:cNvPicPr>
            <a:picLocks noChangeAspect="1"/>
          </p:cNvPicPr>
          <p:nvPr/>
        </p:nvPicPr>
        <p:blipFill>
          <a:blip r:embed="rId3"/>
          <a:stretch>
            <a:fillRect/>
          </a:stretch>
        </p:blipFill>
        <p:spPr>
          <a:xfrm>
            <a:off x="8229600" y="2240280"/>
            <a:ext cx="1792578" cy="3886200"/>
          </a:xfrm>
          <a:prstGeom prst="rect">
            <a:avLst/>
          </a:prstGeom>
        </p:spPr>
      </p:pic>
      <p:sp>
        <p:nvSpPr>
          <p:cNvPr id="16" name="TextBox 15"/>
          <p:cNvSpPr txBox="1"/>
          <p:nvPr/>
        </p:nvSpPr>
        <p:spPr>
          <a:xfrm>
            <a:off x="8138160" y="6245352"/>
            <a:ext cx="1975458"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Parent experience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THE PROBLEM</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Care breaks down between handoffs</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The product addresses coordination gaps across the school day.</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02</a:t>
            </a:r>
          </a:p>
        </p:txBody>
      </p:sp>
      <p:sp>
        <p:nvSpPr>
          <p:cNvPr id="9" name="TextBox 8"/>
          <p:cNvSpPr txBox="1"/>
          <p:nvPr/>
        </p:nvSpPr>
        <p:spPr>
          <a:xfrm>
            <a:off x="59436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01</a:t>
            </a:r>
          </a:p>
        </p:txBody>
      </p:sp>
      <p:sp>
        <p:nvSpPr>
          <p:cNvPr id="10" name="TextBox 9"/>
          <p:cNvSpPr txBox="1"/>
          <p:nvPr/>
        </p:nvSpPr>
        <p:spPr>
          <a:xfrm>
            <a:off x="59436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Fragmented context</a:t>
            </a:r>
          </a:p>
        </p:txBody>
      </p:sp>
      <p:sp>
        <p:nvSpPr>
          <p:cNvPr id="11" name="TextBox 10"/>
          <p:cNvSpPr txBox="1"/>
          <p:nvPr/>
        </p:nvSpPr>
        <p:spPr>
          <a:xfrm>
            <a:off x="59436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Clinic notes, consent, medication status, and pickup instructions sit in different workflows.</a:t>
            </a:r>
          </a:p>
        </p:txBody>
      </p:sp>
      <p:sp>
        <p:nvSpPr>
          <p:cNvPr id="12" name="TextBox 11"/>
          <p:cNvSpPr txBox="1"/>
          <p:nvPr/>
        </p:nvSpPr>
        <p:spPr>
          <a:xfrm>
            <a:off x="422148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02</a:t>
            </a:r>
          </a:p>
        </p:txBody>
      </p:sp>
      <p:sp>
        <p:nvSpPr>
          <p:cNvPr id="13" name="TextBox 12"/>
          <p:cNvSpPr txBox="1"/>
          <p:nvPr/>
        </p:nvSpPr>
        <p:spPr>
          <a:xfrm>
            <a:off x="422148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Time-sensitive decisions</a:t>
            </a:r>
          </a:p>
        </p:txBody>
      </p:sp>
      <p:sp>
        <p:nvSpPr>
          <p:cNvPr id="14" name="TextBox 13"/>
          <p:cNvSpPr txBox="1"/>
          <p:nvPr/>
        </p:nvSpPr>
        <p:spPr>
          <a:xfrm>
            <a:off x="422148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A health event often requires the nurse, parent, teacher, and leadership to act on the same information.</a:t>
            </a:r>
          </a:p>
        </p:txBody>
      </p:sp>
      <p:sp>
        <p:nvSpPr>
          <p:cNvPr id="15" name="TextBox 14"/>
          <p:cNvSpPr txBox="1"/>
          <p:nvPr/>
        </p:nvSpPr>
        <p:spPr>
          <a:xfrm>
            <a:off x="784860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03</a:t>
            </a:r>
          </a:p>
        </p:txBody>
      </p:sp>
      <p:sp>
        <p:nvSpPr>
          <p:cNvPr id="16" name="TextBox 15"/>
          <p:cNvSpPr txBox="1"/>
          <p:nvPr/>
        </p:nvSpPr>
        <p:spPr>
          <a:xfrm>
            <a:off x="784860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Limited visibility</a:t>
            </a:r>
          </a:p>
        </p:txBody>
      </p:sp>
      <p:sp>
        <p:nvSpPr>
          <p:cNvPr id="17" name="TextBox 16"/>
          <p:cNvSpPr txBox="1"/>
          <p:nvPr/>
        </p:nvSpPr>
        <p:spPr>
          <a:xfrm>
            <a:off x="784860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Schools need a clear operational view and a traceable record of who acted and when.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THE SOLUTION</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A connected school health workspace</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Role-specific mobile screens bring each team into the same operating model.</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03</a:t>
            </a:r>
          </a:p>
        </p:txBody>
      </p:sp>
      <p:sp>
        <p:nvSpPr>
          <p:cNvPr id="9" name="TextBox 8"/>
          <p:cNvSpPr txBox="1"/>
          <p:nvPr/>
        </p:nvSpPr>
        <p:spPr>
          <a:xfrm>
            <a:off x="59436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01</a:t>
            </a:r>
          </a:p>
        </p:txBody>
      </p:sp>
      <p:sp>
        <p:nvSpPr>
          <p:cNvPr id="10" name="TextBox 9"/>
          <p:cNvSpPr txBox="1"/>
          <p:nvPr/>
        </p:nvSpPr>
        <p:spPr>
          <a:xfrm>
            <a:off x="59436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Coordinate care</a:t>
            </a:r>
          </a:p>
        </p:txBody>
      </p:sp>
      <p:sp>
        <p:nvSpPr>
          <p:cNvPr id="11" name="TextBox 10"/>
          <p:cNvSpPr txBox="1"/>
          <p:nvPr/>
        </p:nvSpPr>
        <p:spPr>
          <a:xfrm>
            <a:off x="59436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Clinic visits, dose workflows, physician review, and student health records.</a:t>
            </a:r>
          </a:p>
        </p:txBody>
      </p:sp>
      <p:sp>
        <p:nvSpPr>
          <p:cNvPr id="12" name="TextBox 11"/>
          <p:cNvSpPr txBox="1"/>
          <p:nvPr/>
        </p:nvSpPr>
        <p:spPr>
          <a:xfrm>
            <a:off x="422148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02</a:t>
            </a:r>
          </a:p>
        </p:txBody>
      </p:sp>
      <p:sp>
        <p:nvSpPr>
          <p:cNvPr id="13" name="TextBox 12"/>
          <p:cNvSpPr txBox="1"/>
          <p:nvPr/>
        </p:nvSpPr>
        <p:spPr>
          <a:xfrm>
            <a:off x="422148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Connect families</a:t>
            </a:r>
          </a:p>
        </p:txBody>
      </p:sp>
      <p:sp>
        <p:nvSpPr>
          <p:cNvPr id="14" name="TextBox 13"/>
          <p:cNvSpPr txBox="1"/>
          <p:nvPr/>
        </p:nvSpPr>
        <p:spPr>
          <a:xfrm>
            <a:off x="422148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Consent, documents, health history, medication reporting, and authorized pickups.</a:t>
            </a:r>
          </a:p>
        </p:txBody>
      </p:sp>
      <p:sp>
        <p:nvSpPr>
          <p:cNvPr id="15" name="TextBox 14"/>
          <p:cNvSpPr txBox="1"/>
          <p:nvPr/>
        </p:nvSpPr>
        <p:spPr>
          <a:xfrm>
            <a:off x="784860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03</a:t>
            </a:r>
          </a:p>
        </p:txBody>
      </p:sp>
      <p:sp>
        <p:nvSpPr>
          <p:cNvPr id="16" name="TextBox 15"/>
          <p:cNvSpPr txBox="1"/>
          <p:nvPr/>
        </p:nvSpPr>
        <p:spPr>
          <a:xfrm>
            <a:off x="784860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Close the loop</a:t>
            </a:r>
          </a:p>
        </p:txBody>
      </p:sp>
      <p:sp>
        <p:nvSpPr>
          <p:cNvPr id="17" name="TextBox 16"/>
          <p:cNvSpPr txBox="1"/>
          <p:nvPr/>
        </p:nvSpPr>
        <p:spPr>
          <a:xfrm>
            <a:off x="784860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Leadership analytics, staff permissions, school advisories, and audit 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PRODUCT BREADTH</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Built around the whole school</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Eleven role experiences, with shared authentication and system states.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04</a:t>
            </a:r>
          </a:p>
        </p:txBody>
      </p:sp>
      <p:sp>
        <p:nvSpPr>
          <p:cNvPr id="9" name="Rectangle 8"/>
          <p:cNvSpPr/>
          <p:nvPr/>
        </p:nvSpPr>
        <p:spPr>
          <a:xfrm>
            <a:off x="640080" y="2423160"/>
            <a:ext cx="347472" cy="347472"/>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404872"/>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Principal</a:t>
            </a:r>
          </a:p>
        </p:txBody>
      </p:sp>
      <p:sp>
        <p:nvSpPr>
          <p:cNvPr id="11" name="Rectangle 10"/>
          <p:cNvSpPr/>
          <p:nvPr/>
        </p:nvSpPr>
        <p:spPr>
          <a:xfrm>
            <a:off x="3474720" y="2423160"/>
            <a:ext cx="347472" cy="347472"/>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2404872"/>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Vice principal</a:t>
            </a:r>
          </a:p>
        </p:txBody>
      </p:sp>
      <p:sp>
        <p:nvSpPr>
          <p:cNvPr id="13" name="Rectangle 12"/>
          <p:cNvSpPr/>
          <p:nvPr/>
        </p:nvSpPr>
        <p:spPr>
          <a:xfrm>
            <a:off x="6309360" y="2423160"/>
            <a:ext cx="347472" cy="347472"/>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404872"/>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Nurse</a:t>
            </a:r>
          </a:p>
        </p:txBody>
      </p:sp>
      <p:sp>
        <p:nvSpPr>
          <p:cNvPr id="15" name="Rectangle 14"/>
          <p:cNvSpPr/>
          <p:nvPr/>
        </p:nvSpPr>
        <p:spPr>
          <a:xfrm>
            <a:off x="9144000" y="2423160"/>
            <a:ext cx="347472" cy="347472"/>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46920" y="2404872"/>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Physician</a:t>
            </a:r>
          </a:p>
        </p:txBody>
      </p:sp>
      <p:sp>
        <p:nvSpPr>
          <p:cNvPr id="17" name="Rectangle 16"/>
          <p:cNvSpPr/>
          <p:nvPr/>
        </p:nvSpPr>
        <p:spPr>
          <a:xfrm>
            <a:off x="640080" y="3547872"/>
            <a:ext cx="347472" cy="347472"/>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529584"/>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Parent</a:t>
            </a:r>
          </a:p>
        </p:txBody>
      </p:sp>
      <p:sp>
        <p:nvSpPr>
          <p:cNvPr id="19" name="Rectangle 18"/>
          <p:cNvSpPr/>
          <p:nvPr/>
        </p:nvSpPr>
        <p:spPr>
          <a:xfrm>
            <a:off x="3474720" y="3547872"/>
            <a:ext cx="347472" cy="347472"/>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77639" y="3529584"/>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Teacher</a:t>
            </a:r>
          </a:p>
        </p:txBody>
      </p:sp>
      <p:sp>
        <p:nvSpPr>
          <p:cNvPr id="21" name="Rectangle 20"/>
          <p:cNvSpPr/>
          <p:nvPr/>
        </p:nvSpPr>
        <p:spPr>
          <a:xfrm>
            <a:off x="6309360" y="3547872"/>
            <a:ext cx="347472" cy="347472"/>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3529584"/>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Counselor</a:t>
            </a:r>
          </a:p>
        </p:txBody>
      </p:sp>
      <p:sp>
        <p:nvSpPr>
          <p:cNvPr id="23" name="Rectangle 22"/>
          <p:cNvSpPr/>
          <p:nvPr/>
        </p:nvSpPr>
        <p:spPr>
          <a:xfrm>
            <a:off x="9144000" y="3547872"/>
            <a:ext cx="347472" cy="347472"/>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3529584"/>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Secretary</a:t>
            </a:r>
          </a:p>
        </p:txBody>
      </p:sp>
      <p:sp>
        <p:nvSpPr>
          <p:cNvPr id="25" name="Rectangle 24"/>
          <p:cNvSpPr/>
          <p:nvPr/>
        </p:nvSpPr>
        <p:spPr>
          <a:xfrm>
            <a:off x="640080" y="4672583"/>
            <a:ext cx="347472" cy="347472"/>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654296"/>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Cafeteria</a:t>
            </a:r>
          </a:p>
        </p:txBody>
      </p:sp>
      <p:sp>
        <p:nvSpPr>
          <p:cNvPr id="27" name="Rectangle 26"/>
          <p:cNvSpPr/>
          <p:nvPr/>
        </p:nvSpPr>
        <p:spPr>
          <a:xfrm>
            <a:off x="3474720" y="4672583"/>
            <a:ext cx="347472" cy="347472"/>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77639" y="4654296"/>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Security</a:t>
            </a:r>
          </a:p>
        </p:txBody>
      </p:sp>
      <p:sp>
        <p:nvSpPr>
          <p:cNvPr id="29" name="Rectangle 28"/>
          <p:cNvSpPr/>
          <p:nvPr/>
        </p:nvSpPr>
        <p:spPr>
          <a:xfrm>
            <a:off x="6309360" y="4672583"/>
            <a:ext cx="347472" cy="347472"/>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4654296"/>
            <a:ext cx="2194560" cy="548640"/>
          </a:xfrm>
          <a:prstGeom prst="rect">
            <a:avLst/>
          </a:prstGeom>
          <a:noFill/>
        </p:spPr>
        <p:txBody>
          <a:bodyPr wrap="square" lIns="0" rIns="0" tIns="0" bIns="0">
            <a:spAutoFit/>
          </a:bodyPr>
          <a:lstStyle/>
          <a:p>
            <a:pPr>
              <a:spcAft>
                <a:spcPts val="1000"/>
              </a:spcAft>
              <a:defRPr sz="2100" b="1">
                <a:solidFill>
                  <a:srgbClr val="142822"/>
                </a:solidFill>
                <a:latin typeface="Arial"/>
              </a:defRPr>
            </a:pPr>
            <a:r>
              <a:t>Bus driver</a:t>
            </a:r>
          </a:p>
        </p:txBody>
      </p:sp>
      <p:sp>
        <p:nvSpPr>
          <p:cNvPr id="31" name="TextBox 30"/>
          <p:cNvSpPr txBox="1"/>
          <p:nvPr/>
        </p:nvSpPr>
        <p:spPr>
          <a:xfrm>
            <a:off x="640080" y="5925312"/>
            <a:ext cx="10058400" cy="365760"/>
          </a:xfrm>
          <a:prstGeom prst="rect">
            <a:avLst/>
          </a:prstGeom>
          <a:noFill/>
        </p:spPr>
        <p:txBody>
          <a:bodyPr wrap="square" lIns="0" rIns="0" tIns="0" bIns="0">
            <a:spAutoFit/>
          </a:bodyPr>
          <a:lstStyle/>
          <a:p>
            <a:pPr>
              <a:spcAft>
                <a:spcPts val="1000"/>
              </a:spcAft>
              <a:defRPr sz="1600" b="0">
                <a:solidFill>
                  <a:srgbClr val="5B7069"/>
                </a:solidFill>
                <a:latin typeface="Arial"/>
              </a:defRPr>
            </a:pPr>
            <a:r>
              <a:t>148 route screenshots included in the product library.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LEADERSHIP</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See the school health picture</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A daily overview brings care activity, documents, alerts, and staff visibility together.</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05</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An operational home</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Bring today's priorities into one leadership screen.</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Staff and access oversight</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Manage the people who deliver each part of the service.</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Analytics and reporting</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Review trends and support school-level planning.</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rincipal-home.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Daily overview</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rincipal-analytics.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Health analytics</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rincipal-staff.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Staff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CLINICAL CARE</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Give the nurse a focused workspace</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Clinical operations span student lookup, visits, documentation, and emergency escalation.</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06</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Student health context</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Access health information alongside the student record.</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Visit documentation</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Organize routine clinic activity and visit details.</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Escalation paths</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Make urgent next steps visible in the workflow.</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nurse-clinic.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Clinic visits</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nurse-clinic-new-visit.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New visit</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nurse-clinic-emergency-escalation.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Emergency escalation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MEDICATION WORKFLOW</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Make each dose a deliberate action</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Daily doses, conflict states, and inventory are represented in the clinical experience.</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07</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Plan the day</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Review medication work in a dedicated dose view.</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Confirm and flag</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Use confirmation and dose-conflict screens to structure the handoff.</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Track supplies</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Give medication stock its own operational view.</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nurse-medications.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Medication list</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nurse-medications-dose-conflict.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Conflict alert</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nurse-medications-inventory.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Pharmacy inventory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PHYSICIAN OVERSIGHT</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Extend care beyond the clinic desk</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A physician workspace supports protocol review, escalations, and scheduling.</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08</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Protocol review</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Provide a dedicated review area for medication protocols.</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Clinical escalation inbox</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Surface cases that need additional clinical attention.</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Availability planning</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Represent physician schedules in the app.</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hysician-dashboard.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Physician home</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hysician-protocols.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Protocol review</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hysician-escalations.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Escalation inbox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FAMILY EXPERIENCE</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Keep parents part of the care loop</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The parent app brings health, medication, and document workflows into a familiar mobile experience.</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09</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 family-facing home</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Give guardians a clear starting point for the school day.</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Health and medication history</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Keep the child's care activity visible to the family.</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Documents in one place</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Provide an accessible path for school health paperwork.</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rent-app-home.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Parent home</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arent-app-health.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Health history</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arent-app-docs.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Documents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CONSENT AND HANDOFFS</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Connect a request to a response</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Consent and authorized pickup screens show the link between school operations and guardians.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10</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Emergency response</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Provide a dedicated parent consent screen.</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Authorized persons</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Organize the people approved for pickup.</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QR presentation</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Represent a scannable pickup identity in the family app.</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rent-app-emergency-consent.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Consent response</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arent-app-authorized-persons.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Authorized persons</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arent-app-full-qrcode-person-1.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Pickup QR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CLASSROOM AWARENESS</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Bring health context into the school day</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Teachers have focused views for attendance, health considerations, referrals, and exemptions.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11</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Attendance context</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A classroom view supports daily operational awareness.</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Health considerations</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Keep relevant student needs visible to the teacher.</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Referral workflow</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Offer a structured route into the school clinic.</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eacher-attendance.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Attendance</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health-considerations.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Health considerations</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eacher-clinic-referral.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Clinic referral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STUDENT SAFETY</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Support arrival and departure handoffs</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Security and transport have dedicated operational views.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12</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Pickup verification</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Queue and manual verification screens organize gate activity.</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Transport operations</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Route, boarding, and history workflows support the driver.</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Shared responsibility</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Connect the school, transport staff, and authorized guardians.</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ecurity-pickups.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Pickup queue</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ecurity-manual-verification.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Manual verification</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bus-route.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Bus route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FOOD SAFETY</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Make cafeteria decisions more informed</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Allergen alerts and point-of-sale workflows extend the product beyond the clinic.</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13</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Allergen awareness</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Provide the cafeteria with dedicated alert screens.</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Daily operations</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Bring point of sale into the staff experience.</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Family budget visibility</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Represent cafeteria budgets in the parent app.</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afeteria-alerts.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Cafeteria alerts</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afeteria-pos.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Point of sale</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arent-app-cafeteria-budget.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Family budget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SCHOOL SUPPORT</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Support the people behind each handoff</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Counselor and secretary screens broaden the operational footprint.</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14</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Student support</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Counselor records and report workflows represent ongoing care.</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Office coordination</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The secretary has student, messaging, and import views.</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Triage and follow-up</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Queue screens make outstanding work visible.</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unselor-home.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Counselor dashboard</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ecretary-messages.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Office messaging</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ecretary-chatbot.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Chatbot queue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GOVERNANCE</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Make access and readiness visible</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Permission, audit, and readiness views support accountable school operations.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15</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Role permissions</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Show the access model in a dedicated matrix.</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Audit visibility</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Provide a view of recorded system activity.</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Clinic readiness</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Give school operations a readiness and equipment workflow.</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rincipal-permission-matrix.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Permissions</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rincipal-audit.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Audit log</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vice-principal-clinic-readiness.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Clinic readiness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REGIONAL PRODUCT DESIGN</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Designed for the school context</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The app includes English/Arabic localization and contextual school system states.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16</a:t>
            </a:r>
          </a:p>
        </p:txBody>
      </p:sp>
      <p:sp>
        <p:nvSpPr>
          <p:cNvPr id="9" name="Rectangle 8"/>
          <p:cNvSpPr/>
          <p:nvPr/>
        </p:nvSpPr>
        <p:spPr>
          <a:xfrm>
            <a:off x="530352" y="2423160"/>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2316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Bilingual foundation</a:t>
            </a:r>
          </a:p>
        </p:txBody>
      </p:sp>
      <p:sp>
        <p:nvSpPr>
          <p:cNvPr id="11" name="TextBox 10"/>
          <p:cNvSpPr txBox="1"/>
          <p:nvPr/>
        </p:nvSpPr>
        <p:spPr>
          <a:xfrm>
            <a:off x="786384" y="2816352"/>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English and Arabic strings and right-to-left layouts are present in the codebase.</a:t>
            </a:r>
          </a:p>
        </p:txBody>
      </p:sp>
      <p:sp>
        <p:nvSpPr>
          <p:cNvPr id="12" name="Rectangle 11"/>
          <p:cNvSpPr/>
          <p:nvPr/>
        </p:nvSpPr>
        <p:spPr>
          <a:xfrm>
            <a:off x="530352" y="3474720"/>
            <a:ext cx="82296" cy="502920"/>
          </a:xfrm>
          <a:prstGeom prst="rect">
            <a:avLst/>
          </a:prstGeom>
          <a:solidFill>
            <a:srgbClr val="E5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474720"/>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School-wide advisories</a:t>
            </a:r>
          </a:p>
        </p:txBody>
      </p:sp>
      <p:sp>
        <p:nvSpPr>
          <p:cNvPr id="14" name="TextBox 13"/>
          <p:cNvSpPr txBox="1"/>
          <p:nvPr/>
        </p:nvSpPr>
        <p:spPr>
          <a:xfrm>
            <a:off x="786384" y="386791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Weather advisory screens represent shared restrictions.</a:t>
            </a:r>
          </a:p>
        </p:txBody>
      </p:sp>
      <p:sp>
        <p:nvSpPr>
          <p:cNvPr id="15" name="Rectangle 14"/>
          <p:cNvSpPr/>
          <p:nvPr/>
        </p:nvSpPr>
        <p:spPr>
          <a:xfrm>
            <a:off x="530352" y="4526279"/>
            <a:ext cx="82296" cy="50292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526279"/>
            <a:ext cx="4114800" cy="320040"/>
          </a:xfrm>
          <a:prstGeom prst="rect">
            <a:avLst/>
          </a:prstGeom>
          <a:noFill/>
        </p:spPr>
        <p:txBody>
          <a:bodyPr wrap="square" lIns="0" rIns="0" tIns="0" bIns="0">
            <a:spAutoFit/>
          </a:bodyPr>
          <a:lstStyle/>
          <a:p>
            <a:pPr>
              <a:spcAft>
                <a:spcPts val="1000"/>
              </a:spcAft>
              <a:defRPr sz="2000" b="1">
                <a:solidFill>
                  <a:srgbClr val="142822"/>
                </a:solidFill>
                <a:latin typeface="Arial"/>
              </a:defRPr>
            </a:pPr>
            <a:r>
              <a:t>Contextual operating modes</a:t>
            </a:r>
          </a:p>
        </p:txBody>
      </p:sp>
      <p:sp>
        <p:nvSpPr>
          <p:cNvPr id="17" name="TextBox 16"/>
          <p:cNvSpPr txBox="1"/>
          <p:nvPr/>
        </p:nvSpPr>
        <p:spPr>
          <a:xfrm>
            <a:off x="786384" y="4919471"/>
            <a:ext cx="4069080" cy="594360"/>
          </a:xfrm>
          <a:prstGeom prst="rect">
            <a:avLst/>
          </a:prstGeom>
          <a:noFill/>
        </p:spPr>
        <p:txBody>
          <a:bodyPr wrap="square" lIns="0" rIns="0" tIns="0" bIns="0">
            <a:spAutoFit/>
          </a:bodyPr>
          <a:lstStyle/>
          <a:p>
            <a:pPr>
              <a:spcAft>
                <a:spcPts val="1000"/>
              </a:spcAft>
              <a:defRPr sz="1500" b="0">
                <a:solidFill>
                  <a:srgbClr val="5B7069"/>
                </a:solidFill>
                <a:latin typeface="Arial"/>
              </a:defRPr>
            </a:pPr>
            <a:r>
              <a:t>Ramadan and after-hours states are part of the experience.</a:t>
            </a:r>
          </a:p>
        </p:txBody>
      </p:sp>
      <p:sp>
        <p:nvSpPr>
          <p:cNvPr id="18" name="Rectangle 17"/>
          <p:cNvSpPr/>
          <p:nvPr/>
        </p:nvSpPr>
        <p:spPr>
          <a:xfrm>
            <a:off x="5125212"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ystem-weather-advisory.png"/>
          <p:cNvPicPr>
            <a:picLocks noChangeAspect="1"/>
          </p:cNvPicPr>
          <p:nvPr/>
        </p:nvPicPr>
        <p:blipFill>
          <a:blip r:embed="rId2"/>
          <a:stretch>
            <a:fillRect/>
          </a:stretch>
        </p:blipFill>
        <p:spPr>
          <a:xfrm>
            <a:off x="5166360" y="2286000"/>
            <a:ext cx="1708222" cy="3703320"/>
          </a:xfrm>
          <a:prstGeom prst="rect">
            <a:avLst/>
          </a:prstGeom>
        </p:spPr>
      </p:pic>
      <p:sp>
        <p:nvSpPr>
          <p:cNvPr id="20" name="TextBox 19"/>
          <p:cNvSpPr txBox="1"/>
          <p:nvPr/>
        </p:nvSpPr>
        <p:spPr>
          <a:xfrm>
            <a:off x="5074920"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Weather advisory</a:t>
            </a:r>
          </a:p>
        </p:txBody>
      </p:sp>
      <p:sp>
        <p:nvSpPr>
          <p:cNvPr id="21" name="Rectangle 20"/>
          <p:cNvSpPr/>
          <p:nvPr/>
        </p:nvSpPr>
        <p:spPr>
          <a:xfrm>
            <a:off x="7301484"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ystem-ramadan.png"/>
          <p:cNvPicPr>
            <a:picLocks noChangeAspect="1"/>
          </p:cNvPicPr>
          <p:nvPr/>
        </p:nvPicPr>
        <p:blipFill>
          <a:blip r:embed="rId3"/>
          <a:stretch>
            <a:fillRect/>
          </a:stretch>
        </p:blipFill>
        <p:spPr>
          <a:xfrm>
            <a:off x="7342632" y="2286000"/>
            <a:ext cx="1708222" cy="3703320"/>
          </a:xfrm>
          <a:prstGeom prst="rect">
            <a:avLst/>
          </a:prstGeom>
        </p:spPr>
      </p:pic>
      <p:sp>
        <p:nvSpPr>
          <p:cNvPr id="23" name="TextBox 22"/>
          <p:cNvSpPr txBox="1"/>
          <p:nvPr/>
        </p:nvSpPr>
        <p:spPr>
          <a:xfrm>
            <a:off x="7251192"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Ramadan mode</a:t>
            </a:r>
          </a:p>
        </p:txBody>
      </p:sp>
      <p:sp>
        <p:nvSpPr>
          <p:cNvPr id="24" name="Rectangle 23"/>
          <p:cNvSpPr/>
          <p:nvPr/>
        </p:nvSpPr>
        <p:spPr>
          <a:xfrm>
            <a:off x="9477756" y="2244852"/>
            <a:ext cx="1790517" cy="37856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ystem-after-hours.png"/>
          <p:cNvPicPr>
            <a:picLocks noChangeAspect="1"/>
          </p:cNvPicPr>
          <p:nvPr/>
        </p:nvPicPr>
        <p:blipFill>
          <a:blip r:embed="rId4"/>
          <a:stretch>
            <a:fillRect/>
          </a:stretch>
        </p:blipFill>
        <p:spPr>
          <a:xfrm>
            <a:off x="9518904" y="2286000"/>
            <a:ext cx="1708222" cy="3703320"/>
          </a:xfrm>
          <a:prstGeom prst="rect">
            <a:avLst/>
          </a:prstGeom>
        </p:spPr>
      </p:pic>
      <p:sp>
        <p:nvSpPr>
          <p:cNvPr id="26" name="TextBox 25"/>
          <p:cNvSpPr txBox="1"/>
          <p:nvPr/>
        </p:nvSpPr>
        <p:spPr>
          <a:xfrm>
            <a:off x="9427464" y="6108192"/>
            <a:ext cx="1891101" cy="384048"/>
          </a:xfrm>
          <a:prstGeom prst="rect">
            <a:avLst/>
          </a:prstGeom>
          <a:noFill/>
        </p:spPr>
        <p:txBody>
          <a:bodyPr wrap="square" lIns="0" rIns="0" tIns="0" bIns="0">
            <a:spAutoFit/>
          </a:bodyPr>
          <a:lstStyle/>
          <a:p>
            <a:pPr>
              <a:spcAft>
                <a:spcPts val="1000"/>
              </a:spcAft>
              <a:defRPr sz="1100" b="1">
                <a:solidFill>
                  <a:srgbClr val="5B7069"/>
                </a:solidFill>
                <a:latin typeface="Arial"/>
              </a:defRPr>
            </a:pPr>
            <a:r>
              <a:t>After-hours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COMMERCIAL HYPOTHESIS</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Start with a school-level subscription</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A proposed model for validation, rather than committed pricing.</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17</a:t>
            </a:r>
          </a:p>
        </p:txBody>
      </p:sp>
      <p:sp>
        <p:nvSpPr>
          <p:cNvPr id="9" name="TextBox 8"/>
          <p:cNvSpPr txBox="1"/>
          <p:nvPr/>
        </p:nvSpPr>
        <p:spPr>
          <a:xfrm>
            <a:off x="59436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01</a:t>
            </a:r>
          </a:p>
        </p:txBody>
      </p:sp>
      <p:sp>
        <p:nvSpPr>
          <p:cNvPr id="10" name="TextBox 9"/>
          <p:cNvSpPr txBox="1"/>
          <p:nvPr/>
        </p:nvSpPr>
        <p:spPr>
          <a:xfrm>
            <a:off x="59436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School license</a:t>
            </a:r>
          </a:p>
        </p:txBody>
      </p:sp>
      <p:sp>
        <p:nvSpPr>
          <p:cNvPr id="11" name="TextBox 10"/>
          <p:cNvSpPr txBox="1"/>
          <p:nvPr/>
        </p:nvSpPr>
        <p:spPr>
          <a:xfrm>
            <a:off x="59436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An annual subscription priced by school size or student band. Validate willingness to pay in pilots.</a:t>
            </a:r>
          </a:p>
        </p:txBody>
      </p:sp>
      <p:sp>
        <p:nvSpPr>
          <p:cNvPr id="12" name="TextBox 11"/>
          <p:cNvSpPr txBox="1"/>
          <p:nvPr/>
        </p:nvSpPr>
        <p:spPr>
          <a:xfrm>
            <a:off x="422148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02</a:t>
            </a:r>
          </a:p>
        </p:txBody>
      </p:sp>
      <p:sp>
        <p:nvSpPr>
          <p:cNvPr id="13" name="TextBox 12"/>
          <p:cNvSpPr txBox="1"/>
          <p:nvPr/>
        </p:nvSpPr>
        <p:spPr>
          <a:xfrm>
            <a:off x="422148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Implementation</a:t>
            </a:r>
          </a:p>
        </p:txBody>
      </p:sp>
      <p:sp>
        <p:nvSpPr>
          <p:cNvPr id="14" name="TextBox 13"/>
          <p:cNvSpPr txBox="1"/>
          <p:nvPr/>
        </p:nvSpPr>
        <p:spPr>
          <a:xfrm>
            <a:off x="422148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Offer setup, training, and rollout support. Scope integration work separately.</a:t>
            </a:r>
          </a:p>
        </p:txBody>
      </p:sp>
      <p:sp>
        <p:nvSpPr>
          <p:cNvPr id="15" name="TextBox 14"/>
          <p:cNvSpPr txBox="1"/>
          <p:nvPr/>
        </p:nvSpPr>
        <p:spPr>
          <a:xfrm>
            <a:off x="784860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03</a:t>
            </a:r>
          </a:p>
        </p:txBody>
      </p:sp>
      <p:sp>
        <p:nvSpPr>
          <p:cNvPr id="16" name="TextBox 15"/>
          <p:cNvSpPr txBox="1"/>
          <p:nvPr/>
        </p:nvSpPr>
        <p:spPr>
          <a:xfrm>
            <a:off x="784860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Group expansion</a:t>
            </a:r>
          </a:p>
        </p:txBody>
      </p:sp>
      <p:sp>
        <p:nvSpPr>
          <p:cNvPr id="17" name="TextBox 16"/>
          <p:cNvSpPr txBox="1"/>
          <p:nvPr/>
        </p:nvSpPr>
        <p:spPr>
          <a:xfrm>
            <a:off x="784860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Expand from one school to a school group after demonstrating adoption and operating value.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PILOT PROPOSAL</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Prove the workflow before scaling</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An illustrative eight-week pilot with agreed measures and owners.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18</a:t>
            </a:r>
          </a:p>
        </p:txBody>
      </p:sp>
      <p:sp>
        <p:nvSpPr>
          <p:cNvPr id="9" name="TextBox 8"/>
          <p:cNvSpPr txBox="1"/>
          <p:nvPr/>
        </p:nvSpPr>
        <p:spPr>
          <a:xfrm>
            <a:off x="59436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01</a:t>
            </a:r>
          </a:p>
        </p:txBody>
      </p:sp>
      <p:sp>
        <p:nvSpPr>
          <p:cNvPr id="10" name="TextBox 9"/>
          <p:cNvSpPr txBox="1"/>
          <p:nvPr/>
        </p:nvSpPr>
        <p:spPr>
          <a:xfrm>
            <a:off x="59436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Weeks 1-2: Prepare</a:t>
            </a:r>
          </a:p>
        </p:txBody>
      </p:sp>
      <p:sp>
        <p:nvSpPr>
          <p:cNvPr id="11" name="TextBox 10"/>
          <p:cNvSpPr txBox="1"/>
          <p:nvPr/>
        </p:nvSpPr>
        <p:spPr>
          <a:xfrm>
            <a:off x="59436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Map current workflows, confirm roles, review data handling, and establish a baseline.</a:t>
            </a:r>
          </a:p>
        </p:txBody>
      </p:sp>
      <p:sp>
        <p:nvSpPr>
          <p:cNvPr id="12" name="TextBox 11"/>
          <p:cNvSpPr txBox="1"/>
          <p:nvPr/>
        </p:nvSpPr>
        <p:spPr>
          <a:xfrm>
            <a:off x="422148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02</a:t>
            </a:r>
          </a:p>
        </p:txBody>
      </p:sp>
      <p:sp>
        <p:nvSpPr>
          <p:cNvPr id="13" name="TextBox 12"/>
          <p:cNvSpPr txBox="1"/>
          <p:nvPr/>
        </p:nvSpPr>
        <p:spPr>
          <a:xfrm>
            <a:off x="422148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Weeks 3-6: Operate</a:t>
            </a:r>
          </a:p>
        </p:txBody>
      </p:sp>
      <p:sp>
        <p:nvSpPr>
          <p:cNvPr id="14" name="TextBox 13"/>
          <p:cNvSpPr txBox="1"/>
          <p:nvPr/>
        </p:nvSpPr>
        <p:spPr>
          <a:xfrm>
            <a:off x="422148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Pilot clinic, consent, and parent communications with a defined cohort and support cadence.</a:t>
            </a:r>
          </a:p>
        </p:txBody>
      </p:sp>
      <p:sp>
        <p:nvSpPr>
          <p:cNvPr id="15" name="TextBox 14"/>
          <p:cNvSpPr txBox="1"/>
          <p:nvPr/>
        </p:nvSpPr>
        <p:spPr>
          <a:xfrm>
            <a:off x="7848600" y="2468880"/>
            <a:ext cx="3261360" cy="640080"/>
          </a:xfrm>
          <a:prstGeom prst="rect">
            <a:avLst/>
          </a:prstGeom>
          <a:noFill/>
        </p:spPr>
        <p:txBody>
          <a:bodyPr wrap="square" lIns="0" rIns="0" tIns="0" bIns="0">
            <a:spAutoFit/>
          </a:bodyPr>
          <a:lstStyle/>
          <a:p>
            <a:pPr>
              <a:spcAft>
                <a:spcPts val="1000"/>
              </a:spcAft>
              <a:defRPr sz="4200" b="1">
                <a:solidFill>
                  <a:srgbClr val="087F69"/>
                </a:solidFill>
                <a:latin typeface="Arial"/>
              </a:defRPr>
            </a:pPr>
            <a:r>
              <a:t>03</a:t>
            </a:r>
          </a:p>
        </p:txBody>
      </p:sp>
      <p:sp>
        <p:nvSpPr>
          <p:cNvPr id="16" name="TextBox 15"/>
          <p:cNvSpPr txBox="1"/>
          <p:nvPr/>
        </p:nvSpPr>
        <p:spPr>
          <a:xfrm>
            <a:off x="7848600" y="3337560"/>
            <a:ext cx="3261360" cy="731520"/>
          </a:xfrm>
          <a:prstGeom prst="rect">
            <a:avLst/>
          </a:prstGeom>
          <a:noFill/>
        </p:spPr>
        <p:txBody>
          <a:bodyPr wrap="square" lIns="0" rIns="0" tIns="0" bIns="0">
            <a:spAutoFit/>
          </a:bodyPr>
          <a:lstStyle/>
          <a:p>
            <a:pPr>
              <a:spcAft>
                <a:spcPts val="1000"/>
              </a:spcAft>
              <a:defRPr sz="2400" b="1">
                <a:solidFill>
                  <a:srgbClr val="142822"/>
                </a:solidFill>
                <a:latin typeface="Arial"/>
              </a:defRPr>
            </a:pPr>
            <a:r>
              <a:t>Weeks 7-8: Evaluate</a:t>
            </a:r>
          </a:p>
        </p:txBody>
      </p:sp>
      <p:sp>
        <p:nvSpPr>
          <p:cNvPr id="17" name="TextBox 16"/>
          <p:cNvSpPr txBox="1"/>
          <p:nvPr/>
        </p:nvSpPr>
        <p:spPr>
          <a:xfrm>
            <a:off x="7848600" y="4251960"/>
            <a:ext cx="3169920" cy="1737360"/>
          </a:xfrm>
          <a:prstGeom prst="rect">
            <a:avLst/>
          </a:prstGeom>
          <a:noFill/>
        </p:spPr>
        <p:txBody>
          <a:bodyPr wrap="square" lIns="0" rIns="0" tIns="0" bIns="0">
            <a:spAutoFit/>
          </a:bodyPr>
          <a:lstStyle/>
          <a:p>
            <a:pPr>
              <a:spcAft>
                <a:spcPts val="1000"/>
              </a:spcAft>
              <a:defRPr sz="1900" b="0">
                <a:solidFill>
                  <a:srgbClr val="5B7069"/>
                </a:solidFill>
                <a:latin typeface="Arial"/>
              </a:defRPr>
            </a:pPr>
            <a:r>
              <a:t>Measure adoption, documentation completeness, consent response time, and handoff follow-through.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THE NEXT STEP</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Find the right pilot school</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Validate the value with the people who will use the system every day.</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19</a:t>
            </a:r>
          </a:p>
        </p:txBody>
      </p:sp>
      <p:sp>
        <p:nvSpPr>
          <p:cNvPr id="9" name="TextBox 8"/>
          <p:cNvSpPr txBox="1"/>
          <p:nvPr/>
        </p:nvSpPr>
        <p:spPr>
          <a:xfrm>
            <a:off x="640080" y="2606040"/>
            <a:ext cx="6400800" cy="594360"/>
          </a:xfrm>
          <a:prstGeom prst="rect">
            <a:avLst/>
          </a:prstGeom>
          <a:noFill/>
        </p:spPr>
        <p:txBody>
          <a:bodyPr wrap="square" lIns="0" rIns="0" tIns="0" bIns="0">
            <a:spAutoFit/>
          </a:bodyPr>
          <a:lstStyle/>
          <a:p>
            <a:pPr>
              <a:spcAft>
                <a:spcPts val="1000"/>
              </a:spcAft>
              <a:defRPr sz="3000" b="1">
                <a:solidFill>
                  <a:srgbClr val="087F69"/>
                </a:solidFill>
                <a:latin typeface="Arial"/>
              </a:defRPr>
            </a:pPr>
            <a:r>
              <a:t>Seeking a design partner</a:t>
            </a:r>
          </a:p>
        </p:txBody>
      </p:sp>
      <p:sp>
        <p:nvSpPr>
          <p:cNvPr id="10" name="TextBox 9"/>
          <p:cNvSpPr txBox="1"/>
          <p:nvPr/>
        </p:nvSpPr>
        <p:spPr>
          <a:xfrm>
            <a:off x="640080" y="3474720"/>
            <a:ext cx="6492240" cy="1097280"/>
          </a:xfrm>
          <a:prstGeom prst="rect">
            <a:avLst/>
          </a:prstGeom>
          <a:noFill/>
        </p:spPr>
        <p:txBody>
          <a:bodyPr wrap="square" lIns="0" rIns="0" tIns="0" bIns="0">
            <a:spAutoFit/>
          </a:bodyPr>
          <a:lstStyle/>
          <a:p>
            <a:pPr>
              <a:spcAft>
                <a:spcPts val="1000"/>
              </a:spcAft>
              <a:defRPr sz="2400" b="0">
                <a:solidFill>
                  <a:srgbClr val="142822"/>
                </a:solidFill>
                <a:latin typeface="Arial"/>
              </a:defRPr>
            </a:pPr>
            <a:r>
              <a:t>A school leadership team, nurse, and parent cohort willing to shape the rollout and define success.</a:t>
            </a:r>
          </a:p>
        </p:txBody>
      </p:sp>
      <p:sp>
        <p:nvSpPr>
          <p:cNvPr id="11" name="TextBox 10"/>
          <p:cNvSpPr txBox="1"/>
          <p:nvPr/>
        </p:nvSpPr>
        <p:spPr>
          <a:xfrm>
            <a:off x="640080" y="4754880"/>
            <a:ext cx="6583680" cy="1234440"/>
          </a:xfrm>
          <a:prstGeom prst="rect">
            <a:avLst/>
          </a:prstGeom>
          <a:noFill/>
        </p:spPr>
        <p:txBody>
          <a:bodyPr wrap="square" lIns="0" rIns="0" tIns="0" bIns="0">
            <a:spAutoFit/>
          </a:bodyPr>
          <a:lstStyle/>
          <a:p>
            <a:pPr>
              <a:spcAft>
                <a:spcPts val="1000"/>
              </a:spcAft>
              <a:defRPr sz="2200" b="0">
                <a:solidFill>
                  <a:srgbClr val="5B7069"/>
                </a:solidFill>
                <a:latin typeface="Arial"/>
              </a:defRPr>
            </a:pPr>
            <a:r>
              <a:t>Agree the pilot scope.</a:t>
            </a:r>
          </a:p>
          <a:p>
            <a:pPr>
              <a:spcAft>
                <a:spcPts val="1000"/>
              </a:spcAft>
              <a:defRPr sz="2200" b="0">
                <a:solidFill>
                  <a:srgbClr val="5B7069"/>
                </a:solidFill>
                <a:latin typeface="Arial"/>
              </a:defRPr>
            </a:pPr>
            <a:r>
              <a:t>Name an operational owner.</a:t>
            </a:r>
          </a:p>
          <a:p>
            <a:pPr>
              <a:spcAft>
                <a:spcPts val="1000"/>
              </a:spcAft>
              <a:defRPr sz="2200" b="0">
                <a:solidFill>
                  <a:srgbClr val="5B7069"/>
                </a:solidFill>
                <a:latin typeface="Arial"/>
              </a:defRPr>
            </a:pPr>
            <a:r>
              <a:t>Choose the measures that matter.</a:t>
            </a:r>
          </a:p>
        </p:txBody>
      </p:sp>
      <p:sp>
        <p:nvSpPr>
          <p:cNvPr id="12" name="Rectangle 11"/>
          <p:cNvSpPr/>
          <p:nvPr/>
        </p:nvSpPr>
        <p:spPr>
          <a:xfrm>
            <a:off x="8645652" y="2153412"/>
            <a:ext cx="1895963" cy="4014215"/>
          </a:xfrm>
          <a:prstGeom prst="rect">
            <a:avLst/>
          </a:prstGeom>
          <a:solidFill>
            <a:srgbClr val="142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arent-app-home.png"/>
          <p:cNvPicPr>
            <a:picLocks noChangeAspect="1"/>
          </p:cNvPicPr>
          <p:nvPr/>
        </p:nvPicPr>
        <p:blipFill>
          <a:blip r:embed="rId2"/>
          <a:stretch>
            <a:fillRect/>
          </a:stretch>
        </p:blipFill>
        <p:spPr>
          <a:xfrm>
            <a:off x="8686800" y="2194560"/>
            <a:ext cx="1813667" cy="3931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87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0058400" cy="274320"/>
          </a:xfrm>
          <a:prstGeom prst="rect">
            <a:avLst/>
          </a:prstGeom>
          <a:noFill/>
        </p:spPr>
        <p:txBody>
          <a:bodyPr wrap="square" lIns="0" rIns="0" tIns="0" bIns="0">
            <a:spAutoFit/>
          </a:bodyPr>
          <a:lstStyle/>
          <a:p>
            <a:pPr>
              <a:spcAft>
                <a:spcPts val="1000"/>
              </a:spcAft>
              <a:defRPr sz="1100" b="1">
                <a:solidFill>
                  <a:srgbClr val="087F69"/>
                </a:solidFill>
                <a:latin typeface="Arial"/>
              </a:defRPr>
            </a:pPr>
            <a:r>
              <a:t>EVIDENCE AND SCOPE</a:t>
            </a:r>
          </a:p>
        </p:txBody>
      </p:sp>
      <p:sp>
        <p:nvSpPr>
          <p:cNvPr id="4" name="TextBox 3"/>
          <p:cNvSpPr txBox="1"/>
          <p:nvPr/>
        </p:nvSpPr>
        <p:spPr>
          <a:xfrm>
            <a:off x="502920" y="822960"/>
            <a:ext cx="11155680" cy="914400"/>
          </a:xfrm>
          <a:prstGeom prst="rect">
            <a:avLst/>
          </a:prstGeom>
          <a:noFill/>
        </p:spPr>
        <p:txBody>
          <a:bodyPr wrap="square" lIns="0" rIns="0" tIns="0" bIns="0">
            <a:spAutoFit/>
          </a:bodyPr>
          <a:lstStyle/>
          <a:p>
            <a:pPr>
              <a:spcAft>
                <a:spcPts val="1000"/>
              </a:spcAft>
              <a:defRPr sz="3200" b="1">
                <a:solidFill>
                  <a:srgbClr val="142822"/>
                </a:solidFill>
                <a:latin typeface="Arial"/>
              </a:defRPr>
            </a:pPr>
            <a:r>
              <a:t>What this presentation demonstrates</a:t>
            </a:r>
          </a:p>
        </p:txBody>
      </p:sp>
      <p:sp>
        <p:nvSpPr>
          <p:cNvPr id="5" name="TextBox 4"/>
          <p:cNvSpPr txBox="1"/>
          <p:nvPr/>
        </p:nvSpPr>
        <p:spPr>
          <a:xfrm>
            <a:off x="502920" y="1673352"/>
            <a:ext cx="11064240" cy="640080"/>
          </a:xfrm>
          <a:prstGeom prst="rect">
            <a:avLst/>
          </a:prstGeom>
          <a:noFill/>
        </p:spPr>
        <p:txBody>
          <a:bodyPr wrap="square" lIns="0" rIns="0" tIns="0" bIns="0">
            <a:spAutoFit/>
          </a:bodyPr>
          <a:lstStyle/>
          <a:p>
            <a:pPr>
              <a:spcAft>
                <a:spcPts val="1000"/>
              </a:spcAft>
              <a:defRPr sz="1500" b="0">
                <a:solidFill>
                  <a:srgbClr val="5B7069"/>
                </a:solidFill>
                <a:latin typeface="Arial"/>
              </a:defRPr>
            </a:pPr>
            <a:r>
              <a:t>Product screenshots are evidence of the current app experience, not commercial or clinical outcomes.</a:t>
            </a:r>
          </a:p>
        </p:txBody>
      </p:sp>
      <p:sp>
        <p:nvSpPr>
          <p:cNvPr id="6" name="Rectangle 5"/>
          <p:cNvSpPr/>
          <p:nvPr/>
        </p:nvSpPr>
        <p:spPr>
          <a:xfrm>
            <a:off x="502920" y="6419088"/>
            <a:ext cx="11155680" cy="10972"/>
          </a:xfrm>
          <a:prstGeom prst="rect">
            <a:avLst/>
          </a:prstGeom>
          <a:solidFill>
            <a:srgbClr val="DC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37960"/>
            <a:ext cx="9144000" cy="182880"/>
          </a:xfrm>
          <a:prstGeom prst="rect">
            <a:avLst/>
          </a:prstGeom>
          <a:noFill/>
        </p:spPr>
        <p:txBody>
          <a:bodyPr wrap="square" lIns="0" rIns="0" tIns="0" bIns="0">
            <a:spAutoFit/>
          </a:bodyPr>
          <a:lstStyle/>
          <a:p>
            <a:pPr>
              <a:spcAft>
                <a:spcPts val="1000"/>
              </a:spcAft>
              <a:defRPr sz="900" b="0">
                <a:solidFill>
                  <a:srgbClr val="5B7069"/>
                </a:solidFill>
                <a:latin typeface="Arial"/>
              </a:defRPr>
            </a:pPr>
            <a:r>
              <a:t>SchooKeep  |  Product pitch  |  05 October 2026</a:t>
            </a:r>
          </a:p>
        </p:txBody>
      </p:sp>
      <p:sp>
        <p:nvSpPr>
          <p:cNvPr id="8" name="TextBox 7"/>
          <p:cNvSpPr txBox="1"/>
          <p:nvPr/>
        </p:nvSpPr>
        <p:spPr>
          <a:xfrm>
            <a:off x="11064240" y="6510528"/>
            <a:ext cx="548640" cy="228600"/>
          </a:xfrm>
          <a:prstGeom prst="rect">
            <a:avLst/>
          </a:prstGeom>
          <a:noFill/>
        </p:spPr>
        <p:txBody>
          <a:bodyPr wrap="square" lIns="0" rIns="0" tIns="0" bIns="0">
            <a:spAutoFit/>
          </a:bodyPr>
          <a:lstStyle/>
          <a:p>
            <a:pPr>
              <a:spcAft>
                <a:spcPts val="1000"/>
              </a:spcAft>
              <a:defRPr sz="1100" b="1">
                <a:solidFill>
                  <a:srgbClr val="087F69"/>
                </a:solidFill>
                <a:latin typeface="Arial"/>
              </a:defRPr>
            </a:pPr>
            <a:r>
              <a:t>20</a:t>
            </a:r>
          </a:p>
        </p:txBody>
      </p:sp>
      <p:sp>
        <p:nvSpPr>
          <p:cNvPr id="9" name="TextBox 8"/>
          <p:cNvSpPr txBox="1"/>
          <p:nvPr/>
        </p:nvSpPr>
        <p:spPr>
          <a:xfrm>
            <a:off x="640080" y="2468880"/>
            <a:ext cx="4572000" cy="365760"/>
          </a:xfrm>
          <a:prstGeom prst="rect">
            <a:avLst/>
          </a:prstGeom>
          <a:noFill/>
        </p:spPr>
        <p:txBody>
          <a:bodyPr wrap="square" lIns="0" rIns="0" tIns="0" bIns="0">
            <a:spAutoFit/>
          </a:bodyPr>
          <a:lstStyle/>
          <a:p>
            <a:pPr>
              <a:spcAft>
                <a:spcPts val="1000"/>
              </a:spcAft>
              <a:defRPr sz="2200" b="1">
                <a:solidFill>
                  <a:srgbClr val="142822"/>
                </a:solidFill>
                <a:latin typeface="Arial"/>
              </a:defRPr>
            </a:pPr>
            <a:r>
              <a:t>Capture method</a:t>
            </a:r>
          </a:p>
        </p:txBody>
      </p:sp>
      <p:sp>
        <p:nvSpPr>
          <p:cNvPr id="10" name="TextBox 9"/>
          <p:cNvSpPr txBox="1"/>
          <p:nvPr/>
        </p:nvSpPr>
        <p:spPr>
          <a:xfrm>
            <a:off x="640080" y="2999232"/>
            <a:ext cx="4983480" cy="1920240"/>
          </a:xfrm>
          <a:prstGeom prst="rect">
            <a:avLst/>
          </a:prstGeom>
          <a:noFill/>
        </p:spPr>
        <p:txBody>
          <a:bodyPr wrap="square" lIns="0" rIns="0" tIns="0" bIns="0">
            <a:spAutoFit/>
          </a:bodyPr>
          <a:lstStyle/>
          <a:p>
            <a:pPr>
              <a:spcAft>
                <a:spcPts val="1000"/>
              </a:spcAft>
              <a:defRPr sz="1800" b="0">
                <a:solidFill>
                  <a:srgbClr val="5B7069"/>
                </a:solidFill>
                <a:latin typeface="Arial"/>
              </a:defRPr>
            </a:pPr>
            <a:r>
              <a:t>Flutter release web build; 393 x 852 mobile viewport; local seeded Laravel backend; supplied admin account. Original icon assets, with Arial fallback for network-loaded text fonts.</a:t>
            </a:r>
          </a:p>
        </p:txBody>
      </p:sp>
      <p:sp>
        <p:nvSpPr>
          <p:cNvPr id="11" name="TextBox 10"/>
          <p:cNvSpPr txBox="1"/>
          <p:nvPr/>
        </p:nvSpPr>
        <p:spPr>
          <a:xfrm>
            <a:off x="6400800" y="2468880"/>
            <a:ext cx="5029200" cy="365760"/>
          </a:xfrm>
          <a:prstGeom prst="rect">
            <a:avLst/>
          </a:prstGeom>
          <a:noFill/>
        </p:spPr>
        <p:txBody>
          <a:bodyPr wrap="square" lIns="0" rIns="0" tIns="0" bIns="0">
            <a:spAutoFit/>
          </a:bodyPr>
          <a:lstStyle/>
          <a:p>
            <a:pPr>
              <a:spcAft>
                <a:spcPts val="1000"/>
              </a:spcAft>
              <a:defRPr sz="2200" b="1">
                <a:solidFill>
                  <a:srgbClr val="142822"/>
                </a:solidFill>
                <a:latin typeface="Arial"/>
              </a:defRPr>
            </a:pPr>
            <a:r>
              <a:t>Presentation boundaries</a:t>
            </a:r>
          </a:p>
        </p:txBody>
      </p:sp>
      <p:sp>
        <p:nvSpPr>
          <p:cNvPr id="12" name="TextBox 11"/>
          <p:cNvSpPr txBox="1"/>
          <p:nvPr/>
        </p:nvSpPr>
        <p:spPr>
          <a:xfrm>
            <a:off x="6400800" y="2999232"/>
            <a:ext cx="4983480" cy="2286000"/>
          </a:xfrm>
          <a:prstGeom prst="rect">
            <a:avLst/>
          </a:prstGeom>
          <a:noFill/>
        </p:spPr>
        <p:txBody>
          <a:bodyPr wrap="square" lIns="0" rIns="0" tIns="0" bIns="0">
            <a:spAutoFit/>
          </a:bodyPr>
          <a:lstStyle/>
          <a:p>
            <a:pPr>
              <a:spcAft>
                <a:spcPts val="1000"/>
              </a:spcAft>
              <a:defRPr sz="1800" b="0">
                <a:solidFill>
                  <a:srgbClr val="5B7069"/>
                </a:solidFill>
                <a:latin typeface="Arial"/>
              </a:defRPr>
            </a:pPr>
            <a:r>
              <a:t>Demo data is shown. Some flows use sample IDs or static states. External maps and services were not verified. Production deployment, clinical outcomes, security certification, traction, pricing, and integrations are not claimed.</a:t>
            </a:r>
          </a:p>
        </p:txBody>
      </p:sp>
      <p:sp>
        <p:nvSpPr>
          <p:cNvPr id="13" name="TextBox 12"/>
          <p:cNvSpPr txBox="1"/>
          <p:nvPr/>
        </p:nvSpPr>
        <p:spPr>
          <a:xfrm>
            <a:off x="640080" y="5623560"/>
            <a:ext cx="10515600" cy="502920"/>
          </a:xfrm>
          <a:prstGeom prst="rect">
            <a:avLst/>
          </a:prstGeom>
          <a:noFill/>
        </p:spPr>
        <p:txBody>
          <a:bodyPr wrap="square" lIns="0" rIns="0" tIns="0" bIns="0">
            <a:spAutoFit/>
          </a:bodyPr>
          <a:lstStyle/>
          <a:p>
            <a:pPr>
              <a:spcAft>
                <a:spcPts val="1000"/>
              </a:spcAft>
              <a:defRPr sz="1800" b="1">
                <a:solidFill>
                  <a:srgbClr val="087F69"/>
                </a:solidFill>
                <a:latin typeface="Arial"/>
              </a:defRPr>
            </a:pPr>
            <a:r>
              <a:t>Included: route-indexed screenshot library, browser gallery, and editable PowerPoint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