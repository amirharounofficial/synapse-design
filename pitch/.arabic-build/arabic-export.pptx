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e37cbebc2648fa" /><Relationship Type="http://schemas.openxmlformats.org/officeDocument/2006/relationships/extended-properties" Target="/docProps/app.xml" Id="Rd1be2f7c05084d50" /><Relationship Type="http://schemas.openxmlformats.org/officeDocument/2006/relationships/officeDocument" Target="/ppt/presentation.xml" Id="R107079b6d5734c9a" /></Relationships>
</file>

<file path=ppt/presentation.xml><?xml version="1.0" encoding="utf-8"?>
<p:presentation xmlns:p="http://schemas.openxmlformats.org/presentationml/2006/main">
  <p:sldMasterIdLst>
    <p:sldMasterId xmlns:r="http://schemas.openxmlformats.org/officeDocument/2006/relationships" id="2147483648" r:id="Rd05ca409db304462"/>
  </p:sldMasterIdLst>
  <p:notesMasterIdLst>
    <p:notesMasterId xmlns:r="http://schemas.openxmlformats.org/officeDocument/2006/relationships" r:id="Rc8f9fa9010984de8"/>
  </p:notesMasterIdLst>
  <p:sldIdLst>
    <p:sldId xmlns:r="http://schemas.openxmlformats.org/officeDocument/2006/relationships" id="256" r:id="Rd9877ea2800e4028"/>
    <p:sldId xmlns:r="http://schemas.openxmlformats.org/officeDocument/2006/relationships" id="257" r:id="R803afd28af364573"/>
    <p:sldId xmlns:r="http://schemas.openxmlformats.org/officeDocument/2006/relationships" id="258" r:id="R0aa7582bd2d540c7"/>
    <p:sldId xmlns:r="http://schemas.openxmlformats.org/officeDocument/2006/relationships" id="259" r:id="R53eeaa982f5c4c91"/>
    <p:sldId xmlns:r="http://schemas.openxmlformats.org/officeDocument/2006/relationships" id="260" r:id="R35ad4edfad2a497c"/>
    <p:sldId xmlns:r="http://schemas.openxmlformats.org/officeDocument/2006/relationships" id="261" r:id="R3d22da8f9dd349ac"/>
    <p:sldId xmlns:r="http://schemas.openxmlformats.org/officeDocument/2006/relationships" id="262" r:id="R804699ddeb6543af"/>
    <p:sldId xmlns:r="http://schemas.openxmlformats.org/officeDocument/2006/relationships" id="263" r:id="R0762dd25f2cc482a"/>
    <p:sldId xmlns:r="http://schemas.openxmlformats.org/officeDocument/2006/relationships" id="264" r:id="R873de8ccd52c4470"/>
    <p:sldId xmlns:r="http://schemas.openxmlformats.org/officeDocument/2006/relationships" id="265" r:id="R90dd4904c45c4f8f"/>
    <p:sldId xmlns:r="http://schemas.openxmlformats.org/officeDocument/2006/relationships" id="266" r:id="R4c1aa19e85834ba1"/>
    <p:sldId xmlns:r="http://schemas.openxmlformats.org/officeDocument/2006/relationships" id="267" r:id="R2b94ac0ae8674f35"/>
    <p:sldId xmlns:r="http://schemas.openxmlformats.org/officeDocument/2006/relationships" id="268" r:id="R27ae7945565340ad"/>
    <p:sldId xmlns:r="http://schemas.openxmlformats.org/officeDocument/2006/relationships" id="269" r:id="R1cae1c64ae8a4486"/>
    <p:sldId xmlns:r="http://schemas.openxmlformats.org/officeDocument/2006/relationships" id="270" r:id="R52cee03a6e2a431f"/>
    <p:sldId xmlns:r="http://schemas.openxmlformats.org/officeDocument/2006/relationships" id="271" r:id="R4c48fde067ac4ef7"/>
    <p:sldId xmlns:r="http://schemas.openxmlformats.org/officeDocument/2006/relationships" id="272" r:id="R56f615a087eb426a"/>
    <p:sldId xmlns:r="http://schemas.openxmlformats.org/officeDocument/2006/relationships" id="273" r:id="R40ee36004f7947b4"/>
    <p:sldId xmlns:r="http://schemas.openxmlformats.org/officeDocument/2006/relationships" id="274" r:id="R9e94a466942e4a6c"/>
    <p:sldId xmlns:r="http://schemas.openxmlformats.org/officeDocument/2006/relationships" id="275" r:id="Re79e0333eb874160"/>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fc66f09e1cc4c79" /><Relationship Type="http://schemas.openxmlformats.org/officeDocument/2006/relationships/slideMaster" Target="/ppt/slideMasters/slideMaster1.xml" Id="Rd05ca409db304462" /><Relationship Type="http://schemas.openxmlformats.org/officeDocument/2006/relationships/notesMaster" Target="/ppt/notesMasters/notesMaster1.xml" Id="Rc8f9fa9010984de8" /><Relationship Type="http://schemas.openxmlformats.org/officeDocument/2006/relationships/presProps" Target="/ppt/presProps.xml" Id="Rd1458e68908f4a0f" /><Relationship Type="http://schemas.openxmlformats.org/officeDocument/2006/relationships/viewProps" Target="/ppt/viewProps.xml" Id="Rd5253a5e4bf44217" /><Relationship Type="http://schemas.openxmlformats.org/officeDocument/2006/relationships/tableStyles" Target="/ppt/tableStyles.xml" Id="R35f93c2d15054b4d" /><Relationship Type="http://schemas.openxmlformats.org/officeDocument/2006/relationships/slide" Target="/ppt/slides/slide1.xml" Id="Rd9877ea2800e4028" /><Relationship Type="http://schemas.openxmlformats.org/officeDocument/2006/relationships/slide" Target="/ppt/slides/slide2.xml" Id="R803afd28af364573" /><Relationship Type="http://schemas.openxmlformats.org/officeDocument/2006/relationships/slide" Target="/ppt/slides/slide3.xml" Id="R0aa7582bd2d540c7" /><Relationship Type="http://schemas.openxmlformats.org/officeDocument/2006/relationships/slide" Target="/ppt/slides/slide4.xml" Id="R53eeaa982f5c4c91" /><Relationship Type="http://schemas.openxmlformats.org/officeDocument/2006/relationships/slide" Target="/ppt/slides/slide5.xml" Id="R35ad4edfad2a497c" /><Relationship Type="http://schemas.openxmlformats.org/officeDocument/2006/relationships/slide" Target="/ppt/slides/slide6.xml" Id="R3d22da8f9dd349ac" /><Relationship Type="http://schemas.openxmlformats.org/officeDocument/2006/relationships/slide" Target="/ppt/slides/slide7.xml" Id="R804699ddeb6543af" /><Relationship Type="http://schemas.openxmlformats.org/officeDocument/2006/relationships/slide" Target="/ppt/slides/slide8.xml" Id="R0762dd25f2cc482a" /><Relationship Type="http://schemas.openxmlformats.org/officeDocument/2006/relationships/slide" Target="/ppt/slides/slide9.xml" Id="R873de8ccd52c4470" /><Relationship Type="http://schemas.openxmlformats.org/officeDocument/2006/relationships/slide" Target="/ppt/slides/slide10.xml" Id="R90dd4904c45c4f8f" /><Relationship Type="http://schemas.openxmlformats.org/officeDocument/2006/relationships/slide" Target="/ppt/slides/slide11.xml" Id="R4c1aa19e85834ba1" /><Relationship Type="http://schemas.openxmlformats.org/officeDocument/2006/relationships/slide" Target="/ppt/slides/slide12.xml" Id="R2b94ac0ae8674f35" /><Relationship Type="http://schemas.openxmlformats.org/officeDocument/2006/relationships/slide" Target="/ppt/slides/slide13.xml" Id="R27ae7945565340ad" /><Relationship Type="http://schemas.openxmlformats.org/officeDocument/2006/relationships/slide" Target="/ppt/slides/slide14.xml" Id="R1cae1c64ae8a4486" /><Relationship Type="http://schemas.openxmlformats.org/officeDocument/2006/relationships/slide" Target="/ppt/slides/slide15.xml" Id="R52cee03a6e2a431f" /><Relationship Type="http://schemas.openxmlformats.org/officeDocument/2006/relationships/slide" Target="/ppt/slides/slide16.xml" Id="R4c48fde067ac4ef7" /><Relationship Type="http://schemas.openxmlformats.org/officeDocument/2006/relationships/slide" Target="/ppt/slides/slide17.xml" Id="R56f615a087eb426a" /><Relationship Type="http://schemas.openxmlformats.org/officeDocument/2006/relationships/slide" Target="/ppt/slides/slide18.xml" Id="R40ee36004f7947b4" /><Relationship Type="http://schemas.openxmlformats.org/officeDocument/2006/relationships/slide" Target="/ppt/slides/slide19.xml" Id="R9e94a466942e4a6c" /><Relationship Type="http://schemas.openxmlformats.org/officeDocument/2006/relationships/slide" Target="/ppt/slides/slide20.xml" Id="Re79e0333eb8741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2694b5216941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f8a87ef89c496e" /><Relationship Type="http://schemas.openxmlformats.org/officeDocument/2006/relationships/notesMaster" Target="/ppt/notesMasters/notesMaster1.xml" Id="R3cf4260ffae64c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10b081187846ea" /><Relationship Type="http://schemas.openxmlformats.org/officeDocument/2006/relationships/notesMaster" Target="/ppt/notesMasters/notesMaster1.xml" Id="Reeb0c34fcc0f42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a0c09ef2144b13" /><Relationship Type="http://schemas.openxmlformats.org/officeDocument/2006/relationships/notesMaster" Target="/ppt/notesMasters/notesMaster1.xml" Id="R77eb86162daa4c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69197a9fae4a61" /><Relationship Type="http://schemas.openxmlformats.org/officeDocument/2006/relationships/notesMaster" Target="/ppt/notesMasters/notesMaster1.xml" Id="R4a238a44d0b843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5311de5ffc45f0" /><Relationship Type="http://schemas.openxmlformats.org/officeDocument/2006/relationships/notesMaster" Target="/ppt/notesMasters/notesMaster1.xml" Id="Rdc4d138c9cdb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ff26c24e4495a" /><Relationship Type="http://schemas.openxmlformats.org/officeDocument/2006/relationships/notesMaster" Target="/ppt/notesMasters/notesMaster1.xml" Id="R43eb3b0479ab40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711ccaed384a4e" /><Relationship Type="http://schemas.openxmlformats.org/officeDocument/2006/relationships/notesMaster" Target="/ppt/notesMasters/notesMaster1.xml" Id="R7ae8f01e50b344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94c5026a804c7e" /><Relationship Type="http://schemas.openxmlformats.org/officeDocument/2006/relationships/notesMaster" Target="/ppt/notesMasters/notesMaster1.xml" Id="R2fe0af1b05404a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9f671fe3294a9c" /><Relationship Type="http://schemas.openxmlformats.org/officeDocument/2006/relationships/notesMaster" Target="/ppt/notesMasters/notesMaster1.xml" Id="R1235bf3a490b4e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92a30a7325499d" /><Relationship Type="http://schemas.openxmlformats.org/officeDocument/2006/relationships/notesMaster" Target="/ppt/notesMasters/notesMaster1.xml" Id="Rd9d59720a30e44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b37b8ade254317" /><Relationship Type="http://schemas.openxmlformats.org/officeDocument/2006/relationships/notesMaster" Target="/ppt/notesMasters/notesMaster1.xml" Id="Rc7ed583df1f44f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3a16980cc84a0f" /><Relationship Type="http://schemas.openxmlformats.org/officeDocument/2006/relationships/notesMaster" Target="/ppt/notesMasters/notesMaster1.xml" Id="Rc5f4b34e4f8043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c146dacac14285" /><Relationship Type="http://schemas.openxmlformats.org/officeDocument/2006/relationships/notesMaster" Target="/ppt/notesMasters/notesMaster1.xml" Id="Rac097628c14a47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c597edbeb44650" /><Relationship Type="http://schemas.openxmlformats.org/officeDocument/2006/relationships/notesMaster" Target="/ppt/notesMasters/notesMaster1.xml" Id="Rbeb1cfbd10254b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74b2c91d314755" /><Relationship Type="http://schemas.openxmlformats.org/officeDocument/2006/relationships/notesMaster" Target="/ppt/notesMasters/notesMaster1.xml" Id="R274a85e46f7d43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ec1d209c014710" /><Relationship Type="http://schemas.openxmlformats.org/officeDocument/2006/relationships/notesMaster" Target="/ppt/notesMasters/notesMaster1.xml" Id="Red2695ff4bcb44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2b5253d3c04891" /><Relationship Type="http://schemas.openxmlformats.org/officeDocument/2006/relationships/notesMaster" Target="/ppt/notesMasters/notesMaster1.xml" Id="Rb28337345b744e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5af6de601a4055" /><Relationship Type="http://schemas.openxmlformats.org/officeDocument/2006/relationships/notesMaster" Target="/ppt/notesMasters/notesMaster1.xml" Id="R6aa03af3ae0e46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71b5c3398946a7" /><Relationship Type="http://schemas.openxmlformats.org/officeDocument/2006/relationships/notesMaster" Target="/ppt/notesMasters/notesMaster1.xml" Id="R46a39bf22d0947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fc0d1bd305f495f" /><Relationship Type="http://schemas.openxmlformats.org/officeDocument/2006/relationships/notesMaster" Target="/ppt/notesMasters/notesMaster1.xml" Id="Rf33a67b52c6e4a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نسخة عربية من العرض الأصلي، مع تخطيط من اليمين إلى اليسار. لقطات الواجهة محفوظة كما ظهرت في النسخة الأصلية. توثق اللقطات نسخة Flutter مع خادم Laravel محلي وبيانات تجريبية وحساب الإدارة المقدم. لا يثبت العرض نتائج تجارية أو سريرية.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411564f5f444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e6f594bd9348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e49167dbd441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20128134144a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865b33df8942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f91c0772bd45e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83263ff47374f8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bb2a2e45abd409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595ae8eaf134a4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fdfead3615f4d9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23620dfb3cf485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BCB9D-463D-409B-AD34-23245EF59B2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5F54D61A-78F0-4F4E-B086-AC48433F3AC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33FDD20-F038-42AD-83FF-D16A159404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01499E5-89E7-4762-AE00-8D77B8CD9C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4FCAE9A-AC42-4174-A45B-EA3FF6F2BF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326531-37DE-4979-A517-8062B17BBD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D821222-2E90-45BF-801D-CC3D1D2C3FD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F96B08C-9AAD-441D-A53D-4E5A4B826E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37B0D9D-A4FE-48A2-8A3C-8A7875EBE2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409B6B2-2644-4878-9698-605203F1E5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4B17EA-D032-4514-8B7B-36FD89F0BFA5}"/>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A2D0936-34C9-41EC-B2E5-FC4C4C37977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77B8C63-7CBB-4B73-AEB3-8744E6BCB8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B542DCE-0265-4E49-8766-D365E8710C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BCE4081-A378-493C-A3FF-CAF80686A9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83DF95-4300-49E0-A386-E52CAE1E2C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31FF2D2-76CF-491B-8E19-9DF1669A518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4FC404A2-6271-4887-95FD-23127C56ED8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8854805E-7EBB-4A7B-9C1C-9591AACD5B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B9B960-2111-4A9A-B34F-E75D9B3D65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2992CE1-24D2-47CB-8A08-71372659FF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5102D5-6981-40F1-B38C-DF05F19D4C4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35CCDE-8BC6-48D3-80AE-184E74D7B47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DCC02D2-5C92-46D1-BB0C-A73ED419D66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8B53BF0F-D491-4FBF-92B6-C69E5EE833C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37E675A-BD63-4550-947C-2639B11A81C2}"/>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1746A3FD-8FE6-4240-BD63-F6A8423448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FC98A536-C4D4-4FDA-B550-B0718DA689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11DC9A4-6028-4E7C-B4C4-A4E2FBA211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06D53A-3B7A-4CD0-AD29-580FD8E09F6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74B0D6F-B4D6-45F5-B764-7988BD6778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1133A7FE-CCA9-46BC-81C9-315E4EF5F0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B2FE0D0-8C2D-47D2-A789-8E3363379A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1E1F9C7-897D-4BCF-8D47-20370680FF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8903361C-2A74-47E3-8416-A3BF69C3B6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0D2F4B9-0F92-46F9-9CCF-A27C8F77DA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911DAC-074B-4D67-A963-D52A1EBBCE7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E0E08D5-1AC1-45B2-B1C8-1954134C99F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46002AF0-6BB7-4E9F-9554-20AC08C86C5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FDBAC47-3035-4185-B8C4-342E1C8712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79768F5-1E0A-41DF-B7F4-573465D5FA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7C39168-6C77-4417-8AF1-1E8DDE2AB9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76A4A7-3EB2-408C-93BE-0904C0DCFB0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1043FFB-F81C-4087-A513-3CF900D4A03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E748075-729A-4A08-BA6C-12B14C3670C3}"/>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E6E0966-1686-4E73-A251-BEC6DFEC41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4C62B89C-A640-475A-96B8-D79BDEA36A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7E815FE-DD60-4CBA-99C1-126FE12BEC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1B93F1-1BCA-416B-AE4C-47AE7A8CE9D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2E22DC5-A48D-4EB1-A9B9-48C74D442DC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B6FDF47-D7CF-414A-815A-09392337E3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332D3B1-4C63-4BF4-BDE5-1DFC2120A1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671276A-5AEA-42AD-AFC5-FBC221EF0D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E1867BB2-1CB3-4DF9-8C9B-787DDA67F28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51C187E-6AC4-447F-B1B3-F286D20E4A2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E62EA10-DAD4-4677-A0A9-79EFC80541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BB739A6-CA93-4654-938D-45D82D5358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1564613-01A2-42FF-9D9C-48E620DB16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4aff24a0224866" /><Relationship Type="http://schemas.openxmlformats.org/officeDocument/2006/relationships/slideLayout" Target="/ppt/slideLayouts/slideLayout1.xml" Id="Rb38e08bb921b4f56" /><Relationship Type="http://schemas.openxmlformats.org/officeDocument/2006/relationships/slideLayout" Target="/ppt/slideLayouts/slideLayout2.xml" Id="R205e4b16068943d9" /><Relationship Type="http://schemas.openxmlformats.org/officeDocument/2006/relationships/slideLayout" Target="/ppt/slideLayouts/slideLayout3.xml" Id="R9cfc4b5e02aa445f" /><Relationship Type="http://schemas.openxmlformats.org/officeDocument/2006/relationships/slideLayout" Target="/ppt/slideLayouts/slideLayout4.xml" Id="R37729b10ea844670" /><Relationship Type="http://schemas.openxmlformats.org/officeDocument/2006/relationships/slideLayout" Target="/ppt/slideLayouts/slideLayout5.xml" Id="R0821b86ca4724df2" /><Relationship Type="http://schemas.openxmlformats.org/officeDocument/2006/relationships/slideLayout" Target="/ppt/slideLayouts/slideLayout6.xml" Id="R9544c619689e4d17" /><Relationship Type="http://schemas.openxmlformats.org/officeDocument/2006/relationships/slideLayout" Target="/ppt/slideLayouts/slideLayout7.xml" Id="R04929271aba84e90" /><Relationship Type="http://schemas.openxmlformats.org/officeDocument/2006/relationships/slideLayout" Target="/ppt/slideLayouts/slideLayout8.xml" Id="Rce9b93d90c144d41" /><Relationship Type="http://schemas.openxmlformats.org/officeDocument/2006/relationships/slideLayout" Target="/ppt/slideLayouts/slideLayout9.xml" Id="R543c49fcbf044ba7" /><Relationship Type="http://schemas.openxmlformats.org/officeDocument/2006/relationships/slideLayout" Target="/ppt/slideLayouts/slideLayout10.xml" Id="R2bcbbdb04e224b61" /><Relationship Type="http://schemas.openxmlformats.org/officeDocument/2006/relationships/slideLayout" Target="/ppt/slideLayouts/slideLayout11.xml" Id="R0460de30238c490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849B965-FE59-4CC5-959E-ED87E6D29CB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57EF995-5A73-4DD9-A995-B87B2B3065D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D87B658-5D18-4409-8A70-F4552084E96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360A375-B101-43E5-9F6E-17E2956D73A7}"/>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B1F9FBF-65DA-4692-A7F2-A72F73754E1F}"/>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8e08bb921b4f56"/>
    <p:sldLayoutId xmlns:r="http://schemas.openxmlformats.org/officeDocument/2006/relationships" id="2147483650" r:id="R205e4b16068943d9"/>
    <p:sldLayoutId xmlns:r="http://schemas.openxmlformats.org/officeDocument/2006/relationships" id="2147483651" r:id="R9cfc4b5e02aa445f"/>
    <p:sldLayoutId xmlns:r="http://schemas.openxmlformats.org/officeDocument/2006/relationships" id="2147483652" r:id="R37729b10ea844670"/>
    <p:sldLayoutId xmlns:r="http://schemas.openxmlformats.org/officeDocument/2006/relationships" id="2147483653" r:id="R0821b86ca4724df2"/>
    <p:sldLayoutId xmlns:r="http://schemas.openxmlformats.org/officeDocument/2006/relationships" id="2147483654" r:id="R9544c619689e4d17"/>
    <p:sldLayoutId xmlns:r="http://schemas.openxmlformats.org/officeDocument/2006/relationships" id="2147483655" r:id="R04929271aba84e90"/>
    <p:sldLayoutId xmlns:r="http://schemas.openxmlformats.org/officeDocument/2006/relationships" id="2147483656" r:id="Rce9b93d90c144d41"/>
    <p:sldLayoutId xmlns:r="http://schemas.openxmlformats.org/officeDocument/2006/relationships" id="2147483657" r:id="R543c49fcbf044ba7"/>
    <p:sldLayoutId xmlns:r="http://schemas.openxmlformats.org/officeDocument/2006/relationships" id="2147483658" r:id="R2bcbbdb04e224b61"/>
    <p:sldLayoutId xmlns:r="http://schemas.openxmlformats.org/officeDocument/2006/relationships" id="2147483659" r:id="R0460de30238c490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bf72ab3fe544509" /><Relationship Type="http://schemas.openxmlformats.org/officeDocument/2006/relationships/image" Target="/ppt/media/image.png" Id="R5133f4647e8d408e" /><Relationship Type="http://schemas.openxmlformats.org/officeDocument/2006/relationships/image" Target="/ppt/media/image2.png" Id="R8ba5705e0dd74af4" /><Relationship Type="http://schemas.openxmlformats.org/officeDocument/2006/relationships/notesSlide" Target="/ppt/notesSlides/notesSlide1.xml" Id="R3de4e8691c3e4b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6961471a80e45b4" /><Relationship Type="http://schemas.openxmlformats.org/officeDocument/2006/relationships/notesSlide" Target="/ppt/notesSlides/notesSlide2.xml" Id="R3985018e6b214b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7375e4c5ab64c22" /><Relationship Type="http://schemas.openxmlformats.org/officeDocument/2006/relationships/notesSlide" Target="/ppt/notesSlides/notesSlide3.xml" Id="Rd208af9c83bc4c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79402542a9348b9" /><Relationship Type="http://schemas.openxmlformats.org/officeDocument/2006/relationships/notesSlide" Target="/ppt/notesSlides/notesSlide4.xml" Id="R0f4d94387dc346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436ca91e42f43a9" /><Relationship Type="http://schemas.openxmlformats.org/officeDocument/2006/relationships/image" Target="/ppt/media/image.png" Id="R524fe984d271463b" /><Relationship Type="http://schemas.openxmlformats.org/officeDocument/2006/relationships/image" Target="/ppt/media/image3.png" Id="R630e6c61a8024a69" /><Relationship Type="http://schemas.openxmlformats.org/officeDocument/2006/relationships/image" Target="/ppt/media/image4.png" Id="R69eca2ce31474f4b" /><Relationship Type="http://schemas.openxmlformats.org/officeDocument/2006/relationships/notesSlide" Target="/ppt/notesSlides/notesSlide5.xml" Id="Rfec897543e5e42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ec8d81157634a7b" /><Relationship Type="http://schemas.openxmlformats.org/officeDocument/2006/relationships/image" Target="/ppt/media/image5.png" Id="Red7f08b969314857" /><Relationship Type="http://schemas.openxmlformats.org/officeDocument/2006/relationships/image" Target="/ppt/media/image6.png" Id="Rd7d2a35e07964572" /><Relationship Type="http://schemas.openxmlformats.org/officeDocument/2006/relationships/image" Target="/ppt/media/image7.png" Id="R9cd0bf5f522348f4" /><Relationship Type="http://schemas.openxmlformats.org/officeDocument/2006/relationships/notesSlide" Target="/ppt/notesSlides/notesSlide6.xml" Id="R3fa4fcbabc9845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44db72ee1154486" /><Relationship Type="http://schemas.openxmlformats.org/officeDocument/2006/relationships/image" Target="/ppt/media/image8.png" Id="R6e56faa852484120" /><Relationship Type="http://schemas.openxmlformats.org/officeDocument/2006/relationships/image" Target="/ppt/media/image9.png" Id="R3cce24e358c047f2" /><Relationship Type="http://schemas.openxmlformats.org/officeDocument/2006/relationships/image" Target="/ppt/media/image10.png" Id="R46c4870e9bf94100" /><Relationship Type="http://schemas.openxmlformats.org/officeDocument/2006/relationships/notesSlide" Target="/ppt/notesSlides/notesSlide7.xml" Id="R06b286c7954a4e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22ec02976e24fda" /><Relationship Type="http://schemas.openxmlformats.org/officeDocument/2006/relationships/image" Target="/ppt/media/image11.png" Id="Rab0c8718a9064926" /><Relationship Type="http://schemas.openxmlformats.org/officeDocument/2006/relationships/image" Target="/ppt/media/image12.png" Id="R40a70b2fa95340d3" /><Relationship Type="http://schemas.openxmlformats.org/officeDocument/2006/relationships/image" Target="/ppt/media/image13.png" Id="Rbffc3574d9044bf8" /><Relationship Type="http://schemas.openxmlformats.org/officeDocument/2006/relationships/notesSlide" Target="/ppt/notesSlides/notesSlide8.xml" Id="R59bd8e1d806248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a974c3be882418f" /><Relationship Type="http://schemas.openxmlformats.org/officeDocument/2006/relationships/image" Target="/ppt/media/image2.png" Id="R3bed53b2d039425f" /><Relationship Type="http://schemas.openxmlformats.org/officeDocument/2006/relationships/image" Target="/ppt/media/image14.png" Id="R09ddd84e8b28426c" /><Relationship Type="http://schemas.openxmlformats.org/officeDocument/2006/relationships/image" Target="/ppt/media/image15.png" Id="R63a99be4e8cf4c0b" /><Relationship Type="http://schemas.openxmlformats.org/officeDocument/2006/relationships/notesSlide" Target="/ppt/notesSlides/notesSlide9.xml" Id="R7445fa1c4e0346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7d69b74501748df" /><Relationship Type="http://schemas.openxmlformats.org/officeDocument/2006/relationships/image" Target="/ppt/media/image16.png" Id="R8c7c3ce7b7ef47da" /><Relationship Type="http://schemas.openxmlformats.org/officeDocument/2006/relationships/image" Target="/ppt/media/image17.png" Id="Ra44a809d1e644c2f" /><Relationship Type="http://schemas.openxmlformats.org/officeDocument/2006/relationships/image" Target="/ppt/media/image18.png" Id="Rc9cbc1df87b64d37" /><Relationship Type="http://schemas.openxmlformats.org/officeDocument/2006/relationships/notesSlide" Target="/ppt/notesSlides/notesSlide10.xml" Id="R03a63b43e97543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8ee9b117da42428b" /><Relationship Type="http://schemas.openxmlformats.org/officeDocument/2006/relationships/image" Target="/ppt/media/image19.png" Id="R06e299bd44294b10" /><Relationship Type="http://schemas.openxmlformats.org/officeDocument/2006/relationships/image" Target="/ppt/media/image20.png" Id="R23f45c70fd0e4063" /><Relationship Type="http://schemas.openxmlformats.org/officeDocument/2006/relationships/image" Target="/ppt/media/image21.png" Id="Rb8b5b6673abb44be" /><Relationship Type="http://schemas.openxmlformats.org/officeDocument/2006/relationships/notesSlide" Target="/ppt/notesSlides/notesSlide11.xml" Id="Ra1bcbd9d412240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f51597349ba4e77" /><Relationship Type="http://schemas.openxmlformats.org/officeDocument/2006/relationships/image" Target="/ppt/media/image22.png" Id="R2a799579785a4c6b" /><Relationship Type="http://schemas.openxmlformats.org/officeDocument/2006/relationships/image" Target="/ppt/media/image23.png" Id="Rf7e5fc5ffab54af2" /><Relationship Type="http://schemas.openxmlformats.org/officeDocument/2006/relationships/image" Target="/ppt/media/image24.png" Id="R5f06c41824ff4d6d" /><Relationship Type="http://schemas.openxmlformats.org/officeDocument/2006/relationships/notesSlide" Target="/ppt/notesSlides/notesSlide12.xml" Id="Rb60b6cb92e324e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adbec0ba1d374eb6" /><Relationship Type="http://schemas.openxmlformats.org/officeDocument/2006/relationships/image" Target="/ppt/media/image25.png" Id="R8b4d30a0502a486f" /><Relationship Type="http://schemas.openxmlformats.org/officeDocument/2006/relationships/image" Target="/ppt/media/image26.png" Id="Rc4f28718541b463f" /><Relationship Type="http://schemas.openxmlformats.org/officeDocument/2006/relationships/image" Target="/ppt/media/image27.png" Id="R979cf757abf2403b" /><Relationship Type="http://schemas.openxmlformats.org/officeDocument/2006/relationships/notesSlide" Target="/ppt/notesSlides/notesSlide13.xml" Id="Ra77605d724ab48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66d1ee6739f340dd" /><Relationship Type="http://schemas.openxmlformats.org/officeDocument/2006/relationships/image" Target="/ppt/media/image28.png" Id="R2c6c3b5a90ac4d64" /><Relationship Type="http://schemas.openxmlformats.org/officeDocument/2006/relationships/image" Target="/ppt/media/image29.png" Id="Rb707c80bf7484812" /><Relationship Type="http://schemas.openxmlformats.org/officeDocument/2006/relationships/image" Target="/ppt/media/image30.png" Id="R38a98bdcb2174889" /><Relationship Type="http://schemas.openxmlformats.org/officeDocument/2006/relationships/notesSlide" Target="/ppt/notesSlides/notesSlide14.xml" Id="R122ae4fa9b2e41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5a8f4f4b08264584" /><Relationship Type="http://schemas.openxmlformats.org/officeDocument/2006/relationships/image" Target="/ppt/media/image31.png" Id="R193255686908464b" /><Relationship Type="http://schemas.openxmlformats.org/officeDocument/2006/relationships/image" Target="/ppt/media/image32.png" Id="Re0453ce5145344af" /><Relationship Type="http://schemas.openxmlformats.org/officeDocument/2006/relationships/image" Target="/ppt/media/image33.png" Id="Rb501b1eeb30749d6" /><Relationship Type="http://schemas.openxmlformats.org/officeDocument/2006/relationships/notesSlide" Target="/ppt/notesSlides/notesSlide15.xml" Id="Ra38fd8a38fa84b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27f10f3d614246bc" /><Relationship Type="http://schemas.openxmlformats.org/officeDocument/2006/relationships/image" Target="/ppt/media/image34.png" Id="Rd2dbfea6a3274720" /><Relationship Type="http://schemas.openxmlformats.org/officeDocument/2006/relationships/image" Target="/ppt/media/image35.png" Id="Rbff9c2c472c145c5" /><Relationship Type="http://schemas.openxmlformats.org/officeDocument/2006/relationships/image" Target="/ppt/media/image36.png" Id="Re68db8ea218d4b04" /><Relationship Type="http://schemas.openxmlformats.org/officeDocument/2006/relationships/notesSlide" Target="/ppt/notesSlides/notesSlide16.xml" Id="Rcf43cee053324c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3d9e1e45abc145e2" /><Relationship Type="http://schemas.openxmlformats.org/officeDocument/2006/relationships/notesSlide" Target="/ppt/notesSlides/notesSlide17.xml" Id="Rc4aa14fa193d4e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03524140118d4c67" /><Relationship Type="http://schemas.openxmlformats.org/officeDocument/2006/relationships/notesSlide" Target="/ppt/notesSlides/notesSlide18.xml" Id="Rd729b29c53d34a2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2f44d9bcdec34c93" /><Relationship Type="http://schemas.openxmlformats.org/officeDocument/2006/relationships/image" Target="/ppt/media/image2.png" Id="R6be38934e1c843b1" /><Relationship Type="http://schemas.openxmlformats.org/officeDocument/2006/relationships/notesSlide" Target="/ppt/notesSlides/notesSlide19.xml" Id="R43a502b9690c4f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ba27ed33cf1a406f" /><Relationship Type="http://schemas.openxmlformats.org/officeDocument/2006/relationships/notesSlide" Target="/ppt/notesSlides/notesSlide20.xml" Id="R817ebc79a50f4a4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7CD959-B6E1-4D0C-8DCC-63483F2978C3}"/>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EB7BAC0-5D3A-41DD-B7C8-9F0D5F0E1A68}"/>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الصحة المدرسية المتصلة</a:t>
            </a:r>
          </a:p>
        </p:txBody>
      </p:sp>
      <p:sp>
        <p:nvSpPr>
          <p:cNvPr id="4" name="TextBox 3">
            <a:extLst xmlns:a="http://schemas.openxmlformats.org/drawingml/2006/main">
              <a:ext uri="{FF2B5EF4-FFF2-40B4-BE49-F238E27FC236}">
                <a16:creationId xmlns:a16="http://schemas.microsoft.com/office/drawing/2014/main" id="{559727C3-E38E-45F2-866F-B43DDA4BCEF4}"/>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SchooKeep</a:t>
            </a:r>
          </a:p>
        </p:txBody>
      </p:sp>
      <p:sp>
        <p:nvSpPr>
          <p:cNvPr id="5" name="TextBox 4">
            <a:extLst xmlns:a="http://schemas.openxmlformats.org/drawingml/2006/main">
              <a:ext uri="{FF2B5EF4-FFF2-40B4-BE49-F238E27FC236}">
                <a16:creationId xmlns:a16="http://schemas.microsoft.com/office/drawing/2014/main" id="{013951C4-485A-4694-A7CD-7712A7AB217E}"/>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منصة مشتركة للصحة المدرسية والتواصل مع الأسرة وسلامة الطلاب</a:t>
            </a:r>
          </a:p>
        </p:txBody>
      </p:sp>
      <p:sp>
        <p:nvSpPr>
          <p:cNvPr id="6" name="Rectangle 5">
            <a:extLst xmlns:a="http://schemas.openxmlformats.org/drawingml/2006/main">
              <a:ext uri="{FF2B5EF4-FFF2-40B4-BE49-F238E27FC236}">
                <a16:creationId xmlns:a16="http://schemas.microsoft.com/office/drawing/2014/main" id="{087875E7-E4B5-422A-BD81-822E701FEB37}"/>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6D7430F-CF2F-42B2-B67B-2C1D0E0053BB}"/>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5E823D02-3D58-4BE6-9ACF-6456FAFAAD8C}"/>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٠١</a:t>
            </a:r>
          </a:p>
        </p:txBody>
      </p:sp>
      <p:sp>
        <p:nvSpPr>
          <p:cNvPr id="9" name="TextBox 8">
            <a:extLst xmlns:a="http://schemas.openxmlformats.org/drawingml/2006/main">
              <a:ext uri="{FF2B5EF4-FFF2-40B4-BE49-F238E27FC236}">
                <a16:creationId xmlns:a16="http://schemas.microsoft.com/office/drawing/2014/main" id="{03D5D8A1-3C7D-4161-A341-FAE3A54BAE5A}"/>
              </a:ext>
            </a:extLst>
          </p:cNvPr>
          <p:cNvSpPr>
            <a:spLocks xmlns:a="http://schemas.openxmlformats.org/drawingml/2006/main" noGrp="1"/>
          </p:cNvSpPr>
          <p:nvPr/>
        </p:nvSpPr>
        <p:spPr>
          <a:xfrm xmlns:a="http://schemas.openxmlformats.org/drawingml/2006/main">
            <a:off x="6796735" y="2697480"/>
            <a:ext cx="480060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000" b="1">
                <a:solidFill>
                  <a:srgbClr val="142822"/>
                </a:solidFill>
                <a:latin typeface="Arial"/>
                <a:ea typeface="Arial"/>
                <a:cs typeface="Arial"/>
              </a:defRPr>
            </a:pPr>
            <a:r>
              <a:rPr sz="3000" b="1">
                <a:solidFill>
                  <a:srgbClr val="142822"/>
                </a:solidFill>
                <a:latin typeface="Arial"/>
                <a:ea typeface="Arial"/>
                <a:cs typeface="Arial"/>
              </a:rPr>
              <a:t>تنسيق أفضل للرعاية</a:t>
            </a:r>
          </a:p>
          <a:p xmlns:a="http://schemas.openxmlformats.org/drawingml/2006/main">
            <a:pPr algn="r">
              <a:spcAft>
                <a:spcPts val="1000"/>
              </a:spcAft>
              <a:defRPr sz="3000" b="1">
                <a:solidFill>
                  <a:srgbClr val="142822"/>
                </a:solidFill>
                <a:latin typeface="Arial"/>
                <a:ea typeface="Arial"/>
                <a:cs typeface="Arial"/>
              </a:defRPr>
            </a:pPr>
            <a:r>
              <a:rPr sz="3000" b="1">
                <a:solidFill>
                  <a:srgbClr val="142822"/>
                </a:solidFill>
                <a:latin typeface="Arial"/>
                <a:ea typeface="Arial"/>
                <a:cs typeface="Arial"/>
              </a:rPr>
              <a:t>مسؤوليات أوضح</a:t>
            </a:r>
          </a:p>
          <a:p xmlns:a="http://schemas.openxmlformats.org/drawingml/2006/main">
            <a:pPr algn="r">
              <a:spcAft>
                <a:spcPts val="1000"/>
              </a:spcAft>
              <a:defRPr sz="3000" b="1">
                <a:solidFill>
                  <a:srgbClr val="142822"/>
                </a:solidFill>
                <a:latin typeface="Arial"/>
                <a:ea typeface="Arial"/>
                <a:cs typeface="Arial"/>
              </a:defRPr>
            </a:pPr>
            <a:r>
              <a:rPr sz="3000" b="1">
                <a:solidFill>
                  <a:srgbClr val="142822"/>
                </a:solidFill>
                <a:latin typeface="Arial"/>
                <a:ea typeface="Arial"/>
                <a:cs typeface="Arial"/>
              </a:rPr>
              <a:t>مجتمع مدرسي واحد</a:t>
            </a:r>
          </a:p>
        </p:txBody>
      </p:sp>
      <p:sp>
        <p:nvSpPr>
          <p:cNvPr id="10" name="TextBox 9">
            <a:extLst xmlns:a="http://schemas.openxmlformats.org/drawingml/2006/main">
              <a:ext uri="{FF2B5EF4-FFF2-40B4-BE49-F238E27FC236}">
                <a16:creationId xmlns:a16="http://schemas.microsoft.com/office/drawing/2014/main" id="{A64E8B01-71F5-4B1C-9B2E-3E61F24A56AA}"/>
              </a:ext>
            </a:extLst>
          </p:cNvPr>
          <p:cNvSpPr>
            <a:spLocks xmlns:a="http://schemas.openxmlformats.org/drawingml/2006/main" noGrp="1"/>
          </p:cNvSpPr>
          <p:nvPr/>
        </p:nvSpPr>
        <p:spPr>
          <a:xfrm xmlns:a="http://schemas.openxmlformats.org/drawingml/2006/main">
            <a:off x="7025335" y="5212080"/>
            <a:ext cx="45720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عرض توضيحي لتطبيق Flutter</a:t>
            </a:r>
          </a:p>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لقطات من التطبيق ببيانات تجريبية محلية</a:t>
            </a:r>
          </a:p>
        </p:txBody>
      </p:sp>
      <p:sp>
        <p:nvSpPr>
          <p:cNvPr id="11" name="Rectangle 10">
            <a:extLst xmlns:a="http://schemas.openxmlformats.org/drawingml/2006/main">
              <a:ext uri="{FF2B5EF4-FFF2-40B4-BE49-F238E27FC236}">
                <a16:creationId xmlns:a16="http://schemas.microsoft.com/office/drawing/2014/main" id="{3E6C564E-9ECB-4D35-8F63-8EBBB20D6C14}"/>
              </a:ext>
            </a:extLst>
          </p:cNvPr>
          <p:cNvSpPr>
            <a:spLocks xmlns:a="http://schemas.openxmlformats.org/drawingml/2006/main" noGrp="1"/>
          </p:cNvSpPr>
          <p:nvPr/>
        </p:nvSpPr>
        <p:spPr>
          <a:xfrm xmlns:a="http://schemas.openxmlformats.org/drawingml/2006/main">
            <a:off x="4597249" y="2199132"/>
            <a:ext cx="1874874" cy="3968496"/>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9" name="Picture 11"/>
          <p:cNvPicPr>
            <a:picLocks xmlns:a="http://schemas.openxmlformats.org/drawingml/2006/main" noChangeAspect="1"/>
          </p:cNvPicPr>
          <p:nvPr/>
        </p:nvPicPr>
        <p:blipFill>
          <a:blip xmlns:r="http://schemas.openxmlformats.org/officeDocument/2006/relationships" xmlns:a="http://schemas.openxmlformats.org/drawingml/2006/main" r:embed="R5133f4647e8d408e"/>
          <a:stretch xmlns:a="http://schemas.openxmlformats.org/drawingml/2006/main">
            <a:fillRect l="0" t="0" r="0" b="0"/>
          </a:stretch>
        </p:blipFill>
        <p:spPr>
          <a:xfrm xmlns:a="http://schemas.openxmlformats.org/drawingml/2006/main">
            <a:off x="4638397" y="2240280"/>
            <a:ext cx="1792578" cy="3886200"/>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B807C814-F94A-4FE4-A238-CE3FD3F0FAC4}"/>
              </a:ext>
            </a:extLst>
          </p:cNvPr>
          <p:cNvSpPr>
            <a:spLocks xmlns:a="http://schemas.openxmlformats.org/drawingml/2006/main" noGrp="1"/>
          </p:cNvSpPr>
          <p:nvPr/>
        </p:nvSpPr>
        <p:spPr>
          <a:xfrm xmlns:a="http://schemas.openxmlformats.org/drawingml/2006/main">
            <a:off x="4546957" y="6245352"/>
            <a:ext cx="197545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إدارة المدرسة</a:t>
            </a:r>
          </a:p>
        </p:txBody>
      </p:sp>
      <p:sp>
        <p:nvSpPr>
          <p:cNvPr id="14" name="Rectangle 13">
            <a:extLst xmlns:a="http://schemas.openxmlformats.org/drawingml/2006/main">
              <a:ext uri="{FF2B5EF4-FFF2-40B4-BE49-F238E27FC236}">
                <a16:creationId xmlns:a16="http://schemas.microsoft.com/office/drawing/2014/main" id="{E495DB7E-68F4-41D0-B528-8A65F267C038}"/>
              </a:ext>
            </a:extLst>
          </p:cNvPr>
          <p:cNvSpPr>
            <a:spLocks xmlns:a="http://schemas.openxmlformats.org/drawingml/2006/main" noGrp="1"/>
          </p:cNvSpPr>
          <p:nvPr/>
        </p:nvSpPr>
        <p:spPr>
          <a:xfrm xmlns:a="http://schemas.openxmlformats.org/drawingml/2006/main">
            <a:off x="2128369" y="2199132"/>
            <a:ext cx="1874874" cy="3968496"/>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2" name="Picture 14"/>
          <p:cNvPicPr>
            <a:picLocks xmlns:a="http://schemas.openxmlformats.org/drawingml/2006/main" noChangeAspect="1"/>
          </p:cNvPicPr>
          <p:nvPr/>
        </p:nvPicPr>
        <p:blipFill>
          <a:blip xmlns:r="http://schemas.openxmlformats.org/officeDocument/2006/relationships" xmlns:a="http://schemas.openxmlformats.org/drawingml/2006/main" r:embed="R8ba5705e0dd74af4"/>
          <a:stretch xmlns:a="http://schemas.openxmlformats.org/drawingml/2006/main">
            <a:fillRect l="0" t="0" r="0" b="0"/>
          </a:stretch>
        </p:blipFill>
        <p:spPr>
          <a:xfrm xmlns:a="http://schemas.openxmlformats.org/drawingml/2006/main">
            <a:off x="2169517" y="2240280"/>
            <a:ext cx="1792578" cy="3886200"/>
          </a:xfrm>
          <a:prstGeom xmlns:a="http://schemas.openxmlformats.org/drawingml/2006/main" prst="rect">
            <a:avLst/>
          </a:prstGeom>
        </p:spPr>
      </p:pic>
      <p:sp>
        <p:nvSpPr>
          <p:cNvPr id="16" name="TextBox 15">
            <a:extLst xmlns:a="http://schemas.openxmlformats.org/drawingml/2006/main">
              <a:ext uri="{FF2B5EF4-FFF2-40B4-BE49-F238E27FC236}">
                <a16:creationId xmlns:a16="http://schemas.microsoft.com/office/drawing/2014/main" id="{14A43B3A-A34E-4289-A4F4-D27CF1E3F6FA}"/>
              </a:ext>
            </a:extLst>
          </p:cNvPr>
          <p:cNvSpPr>
            <a:spLocks xmlns:a="http://schemas.openxmlformats.org/drawingml/2006/main" noGrp="1"/>
          </p:cNvSpPr>
          <p:nvPr/>
        </p:nvSpPr>
        <p:spPr>
          <a:xfrm xmlns:a="http://schemas.openxmlformats.org/drawingml/2006/main">
            <a:off x="2078077" y="6245352"/>
            <a:ext cx="197545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تجربة ولي الأمر</a:t>
            </a:r>
          </a:p>
        </p:txBody>
      </p:sp>
    </p:spTree>
    <p:extLst>
      <p:ext uri="{BB962C8B-B14F-4D97-AF65-F5344CB8AC3E}">
        <p14:creationId xmlns:p14="http://schemas.microsoft.com/office/powerpoint/2010/main" val="19709785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2E30DEA-90CA-45A4-97A5-A3DE65E53B6E}"/>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4F4BA2C-35E6-461A-AEA5-1E3638419285}"/>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التحدي</a:t>
            </a:r>
          </a:p>
        </p:txBody>
      </p:sp>
      <p:sp>
        <p:nvSpPr>
          <p:cNvPr id="4" name="TextBox 3">
            <a:extLst xmlns:a="http://schemas.openxmlformats.org/drawingml/2006/main">
              <a:ext uri="{FF2B5EF4-FFF2-40B4-BE49-F238E27FC236}">
                <a16:creationId xmlns:a16="http://schemas.microsoft.com/office/drawing/2014/main" id="{2CC5F2F5-67F2-4C5F-B210-E85539C1DC8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فجوات التنسيق في الرعاية</a:t>
            </a:r>
          </a:p>
        </p:txBody>
      </p:sp>
      <p:sp>
        <p:nvSpPr>
          <p:cNvPr id="5" name="TextBox 4">
            <a:extLst xmlns:a="http://schemas.openxmlformats.org/drawingml/2006/main">
              <a:ext uri="{FF2B5EF4-FFF2-40B4-BE49-F238E27FC236}">
                <a16:creationId xmlns:a16="http://schemas.microsoft.com/office/drawing/2014/main" id="{C92966FF-6118-4492-8550-688F37547543}"/>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يعالج التطبيق فجوات تبادل المعلومات خلال اليوم الدراسي</a:t>
            </a:r>
          </a:p>
        </p:txBody>
      </p:sp>
      <p:sp>
        <p:nvSpPr>
          <p:cNvPr id="6" name="Rectangle 5">
            <a:extLst xmlns:a="http://schemas.openxmlformats.org/drawingml/2006/main">
              <a:ext uri="{FF2B5EF4-FFF2-40B4-BE49-F238E27FC236}">
                <a16:creationId xmlns:a16="http://schemas.microsoft.com/office/drawing/2014/main" id="{1E894B6F-0EBB-4D99-8E74-163E0BDA1983}"/>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22A0015-BF1E-40D7-863A-A34D5E3E477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3B1F68D7-70BD-4B27-A5DB-642C21F210B1}"/>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٠٢</a:t>
            </a:r>
          </a:p>
        </p:txBody>
      </p:sp>
      <p:sp>
        <p:nvSpPr>
          <p:cNvPr id="9" name="TextBox 8">
            <a:extLst xmlns:a="http://schemas.openxmlformats.org/drawingml/2006/main">
              <a:ext uri="{FF2B5EF4-FFF2-40B4-BE49-F238E27FC236}">
                <a16:creationId xmlns:a16="http://schemas.microsoft.com/office/drawing/2014/main" id="{1CBF462C-59FE-47F9-9174-5555B3AD7BBB}"/>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21EA82C0-8C57-40A9-9F18-05F26B7799FD}"/>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معلومات متفرقة</a:t>
            </a:r>
          </a:p>
        </p:txBody>
      </p:sp>
      <p:sp>
        <p:nvSpPr>
          <p:cNvPr id="11" name="TextBox 10">
            <a:extLst xmlns:a="http://schemas.openxmlformats.org/drawingml/2006/main">
              <a:ext uri="{FF2B5EF4-FFF2-40B4-BE49-F238E27FC236}">
                <a16:creationId xmlns:a16="http://schemas.microsoft.com/office/drawing/2014/main" id="{A825487A-6666-4B16-8DE2-C62A08102153}"/>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تتوزع ملاحظات العيادة والموافقات وحالة الدواء وتعليمات الاستلام بين إجراءات مختلفة.</a:t>
            </a:r>
          </a:p>
        </p:txBody>
      </p:sp>
      <p:sp>
        <p:nvSpPr>
          <p:cNvPr id="12" name="TextBox 11">
            <a:extLst xmlns:a="http://schemas.openxmlformats.org/drawingml/2006/main">
              <a:ext uri="{FF2B5EF4-FFF2-40B4-BE49-F238E27FC236}">
                <a16:creationId xmlns:a16="http://schemas.microsoft.com/office/drawing/2014/main" id="{DD34ECEB-51A1-4DFC-B974-ACB4D0CF64CB}"/>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AB0E9C35-D36B-4EA6-858C-75D6964F4144}"/>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قرارات عاجلة</a:t>
            </a:r>
          </a:p>
        </p:txBody>
      </p:sp>
      <p:sp>
        <p:nvSpPr>
          <p:cNvPr id="14" name="TextBox 13">
            <a:extLst xmlns:a="http://schemas.openxmlformats.org/drawingml/2006/main">
              <a:ext uri="{FF2B5EF4-FFF2-40B4-BE49-F238E27FC236}">
                <a16:creationId xmlns:a16="http://schemas.microsoft.com/office/drawing/2014/main" id="{ABAEC3B2-8335-4A8A-B0EB-63C838A70607}"/>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تتطلب الحالات الصحية من الممرضة والأسرة والمعلم والإدارة العمل انطلاقاً من المعلومات نفسها.</a:t>
            </a:r>
          </a:p>
        </p:txBody>
      </p:sp>
      <p:sp>
        <p:nvSpPr>
          <p:cNvPr id="15" name="TextBox 14">
            <a:extLst xmlns:a="http://schemas.openxmlformats.org/drawingml/2006/main">
              <a:ext uri="{FF2B5EF4-FFF2-40B4-BE49-F238E27FC236}">
                <a16:creationId xmlns:a16="http://schemas.microsoft.com/office/drawing/2014/main" id="{D485D0CF-CE1C-4935-9066-499EB53E5EE9}"/>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62EFA4BE-BA43-4EDE-B425-8317B7582649}"/>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رؤية محدودة</a:t>
            </a:r>
          </a:p>
        </p:txBody>
      </p:sp>
      <p:sp>
        <p:nvSpPr>
          <p:cNvPr id="17" name="TextBox 16">
            <a:extLst xmlns:a="http://schemas.openxmlformats.org/drawingml/2006/main">
              <a:ext uri="{FF2B5EF4-FFF2-40B4-BE49-F238E27FC236}">
                <a16:creationId xmlns:a16="http://schemas.microsoft.com/office/drawing/2014/main" id="{B1C4D962-0DD2-4CFB-BC8A-7FF43DE2B8A1}"/>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تحتاج المدرسة إلى متابعة واضحة للعمليات وسجل يبيّن من اتخذ الإجراء ومتى.</a:t>
            </a:r>
          </a:p>
        </p:txBody>
      </p:sp>
    </p:spTree>
    <p:extLst>
      <p:ext uri="{BB962C8B-B14F-4D97-AF65-F5344CB8AC3E}">
        <p14:creationId xmlns:p14="http://schemas.microsoft.com/office/powerpoint/2010/main" val="17200485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28AA874-DC02-4B24-ACAA-B91A920448D0}"/>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05BC224-567C-4F03-BF0A-51357BC5CD9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الحل</a:t>
            </a:r>
          </a:p>
        </p:txBody>
      </p:sp>
      <p:sp>
        <p:nvSpPr>
          <p:cNvPr id="4" name="TextBox 3">
            <a:extLst xmlns:a="http://schemas.openxmlformats.org/drawingml/2006/main">
              <a:ext uri="{FF2B5EF4-FFF2-40B4-BE49-F238E27FC236}">
                <a16:creationId xmlns:a16="http://schemas.microsoft.com/office/drawing/2014/main" id="{F8B959DC-5203-40E8-87B8-972FD67FB8AE}"/>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مساحة عمل موحدة للصحة المدرسية</a:t>
            </a:r>
          </a:p>
        </p:txBody>
      </p:sp>
      <p:sp>
        <p:nvSpPr>
          <p:cNvPr id="5" name="TextBox 4">
            <a:extLst xmlns:a="http://schemas.openxmlformats.org/drawingml/2006/main">
              <a:ext uri="{FF2B5EF4-FFF2-40B4-BE49-F238E27FC236}">
                <a16:creationId xmlns:a16="http://schemas.microsoft.com/office/drawing/2014/main" id="{DBB33EAA-433D-416F-A027-9DB758C5FC0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واجهات جوال مخصصة لكل دور تجمع فرق المدرسة ضمن نموذج عمل واحد</a:t>
            </a:r>
          </a:p>
        </p:txBody>
      </p:sp>
      <p:sp>
        <p:nvSpPr>
          <p:cNvPr id="6" name="Rectangle 5">
            <a:extLst xmlns:a="http://schemas.openxmlformats.org/drawingml/2006/main">
              <a:ext uri="{FF2B5EF4-FFF2-40B4-BE49-F238E27FC236}">
                <a16:creationId xmlns:a16="http://schemas.microsoft.com/office/drawing/2014/main" id="{A0254A95-0BCE-4530-8F89-79022554706F}"/>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13A5B66-D084-4455-9A01-A6E23A6A0AF7}"/>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FC22F2C3-A9E7-45F0-B0D3-46B0FCA25B29}"/>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٠٣</a:t>
            </a:r>
          </a:p>
        </p:txBody>
      </p:sp>
      <p:sp>
        <p:nvSpPr>
          <p:cNvPr id="9" name="TextBox 8">
            <a:extLst xmlns:a="http://schemas.openxmlformats.org/drawingml/2006/main">
              <a:ext uri="{FF2B5EF4-FFF2-40B4-BE49-F238E27FC236}">
                <a16:creationId xmlns:a16="http://schemas.microsoft.com/office/drawing/2014/main" id="{5C615A92-DA81-4D86-8993-2F1AC466E5DC}"/>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11159A3F-A2A1-403B-804D-80D243014F66}"/>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تنسيق الرعاية</a:t>
            </a:r>
          </a:p>
        </p:txBody>
      </p:sp>
      <p:sp>
        <p:nvSpPr>
          <p:cNvPr id="11" name="TextBox 10">
            <a:extLst xmlns:a="http://schemas.openxmlformats.org/drawingml/2006/main">
              <a:ext uri="{FF2B5EF4-FFF2-40B4-BE49-F238E27FC236}">
                <a16:creationId xmlns:a16="http://schemas.microsoft.com/office/drawing/2014/main" id="{E55567A4-0A9E-4CA2-9B68-E8B92FC5F019}"/>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زيارات العيادة وإعطاء الجرعات ومراجعة الطبيب والسجلات الصحية للطلاب.</a:t>
            </a:r>
          </a:p>
        </p:txBody>
      </p:sp>
      <p:sp>
        <p:nvSpPr>
          <p:cNvPr id="12" name="TextBox 11">
            <a:extLst xmlns:a="http://schemas.openxmlformats.org/drawingml/2006/main">
              <a:ext uri="{FF2B5EF4-FFF2-40B4-BE49-F238E27FC236}">
                <a16:creationId xmlns:a16="http://schemas.microsoft.com/office/drawing/2014/main" id="{771351C8-3100-4B8A-9C5A-0D4AAEB4556B}"/>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1E675870-EEC5-4D8E-A84B-BA3AE6301BA5}"/>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التواصل مع الأسرة</a:t>
            </a:r>
          </a:p>
        </p:txBody>
      </p:sp>
      <p:sp>
        <p:nvSpPr>
          <p:cNvPr id="14" name="TextBox 13">
            <a:extLst xmlns:a="http://schemas.openxmlformats.org/drawingml/2006/main">
              <a:ext uri="{FF2B5EF4-FFF2-40B4-BE49-F238E27FC236}">
                <a16:creationId xmlns:a16="http://schemas.microsoft.com/office/drawing/2014/main" id="{1FB031B0-740E-4BD1-9F76-AC687148E044}"/>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الموافقات والمستندات والتاريخ الصحي وتقارير الأدوية والمصرح لهم بالاستلام.</a:t>
            </a:r>
          </a:p>
        </p:txBody>
      </p:sp>
      <p:sp>
        <p:nvSpPr>
          <p:cNvPr id="15" name="TextBox 14">
            <a:extLst xmlns:a="http://schemas.openxmlformats.org/drawingml/2006/main">
              <a:ext uri="{FF2B5EF4-FFF2-40B4-BE49-F238E27FC236}">
                <a16:creationId xmlns:a16="http://schemas.microsoft.com/office/drawing/2014/main" id="{C7C7F59B-050D-4F1E-8F78-15ABEE843B42}"/>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49257186-E01D-4E2C-A7F6-9BDE2B8D715C}"/>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متابعة الإجراءات</a:t>
            </a:r>
          </a:p>
        </p:txBody>
      </p:sp>
      <p:sp>
        <p:nvSpPr>
          <p:cNvPr id="17" name="TextBox 16">
            <a:extLst xmlns:a="http://schemas.openxmlformats.org/drawingml/2006/main">
              <a:ext uri="{FF2B5EF4-FFF2-40B4-BE49-F238E27FC236}">
                <a16:creationId xmlns:a16="http://schemas.microsoft.com/office/drawing/2014/main" id="{813840D1-8FB6-480E-9C8E-9E9B8F4AC3CC}"/>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تحليلات الإدارة وصلاحيات الموظفين والتنبيهات المدرسية وسجلات التدقيق.</a:t>
            </a:r>
          </a:p>
        </p:txBody>
      </p:sp>
    </p:spTree>
    <p:extLst>
      <p:ext uri="{BB962C8B-B14F-4D97-AF65-F5344CB8AC3E}">
        <p14:creationId xmlns:p14="http://schemas.microsoft.com/office/powerpoint/2010/main" val="6526669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62C8034-7B10-4AF9-8A6A-6197737062BC}"/>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83B80F2-B52F-467F-842D-B7D44B585C5A}"/>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نطاق المنتج</a:t>
            </a:r>
          </a:p>
        </p:txBody>
      </p:sp>
      <p:sp>
        <p:nvSpPr>
          <p:cNvPr id="4" name="TextBox 3">
            <a:extLst xmlns:a="http://schemas.openxmlformats.org/drawingml/2006/main">
              <a:ext uri="{FF2B5EF4-FFF2-40B4-BE49-F238E27FC236}">
                <a16:creationId xmlns:a16="http://schemas.microsoft.com/office/drawing/2014/main" id="{05CE8F17-C48A-42D4-BA9C-6771662CBEDC}"/>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تجارب تخدم المدرسة بأكملها</a:t>
            </a:r>
          </a:p>
        </p:txBody>
      </p:sp>
      <p:sp>
        <p:nvSpPr>
          <p:cNvPr id="5" name="TextBox 4">
            <a:extLst xmlns:a="http://schemas.openxmlformats.org/drawingml/2006/main">
              <a:ext uri="{FF2B5EF4-FFF2-40B4-BE49-F238E27FC236}">
                <a16:creationId xmlns:a16="http://schemas.microsoft.com/office/drawing/2014/main" id="{FD2A4B84-25CA-41F7-BE16-E3B255301F1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إحدى عشرة تجربة حسب الدور، مع تسجيل دخول وحالات تشغيل مشتركة</a:t>
            </a:r>
          </a:p>
        </p:txBody>
      </p:sp>
      <p:sp>
        <p:nvSpPr>
          <p:cNvPr id="6" name="Rectangle 5">
            <a:extLst xmlns:a="http://schemas.openxmlformats.org/drawingml/2006/main">
              <a:ext uri="{FF2B5EF4-FFF2-40B4-BE49-F238E27FC236}">
                <a16:creationId xmlns:a16="http://schemas.microsoft.com/office/drawing/2014/main" id="{10C54111-BDC9-423E-B56D-BC07AD0E4AF6}"/>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4A434AA9-2D9A-483E-B021-C99F89C6CA3B}"/>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24FAA3B-0BF9-45A7-A247-D2BEDAB37E7D}"/>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٠٤</a:t>
            </a:r>
          </a:p>
        </p:txBody>
      </p:sp>
      <p:sp>
        <p:nvSpPr>
          <p:cNvPr id="9" name="Rectangle 8">
            <a:extLst xmlns:a="http://schemas.openxmlformats.org/drawingml/2006/main">
              <a:ext uri="{FF2B5EF4-FFF2-40B4-BE49-F238E27FC236}">
                <a16:creationId xmlns:a16="http://schemas.microsoft.com/office/drawing/2014/main" id="{324609AD-0BAE-472C-B12C-BED109B478DF}"/>
              </a:ext>
            </a:extLst>
          </p:cNvPr>
          <p:cNvSpPr>
            <a:spLocks xmlns:a="http://schemas.openxmlformats.org/drawingml/2006/main" noGrp="1"/>
          </p:cNvSpPr>
          <p:nvPr/>
        </p:nvSpPr>
        <p:spPr>
          <a:xfrm xmlns:a="http://schemas.openxmlformats.org/drawingml/2006/main">
            <a:off x="11204143" y="2423160"/>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3CBBB26F-8EA9-444D-AA31-3E61D922C668}"/>
              </a:ext>
            </a:extLst>
          </p:cNvPr>
          <p:cNvSpPr>
            <a:spLocks xmlns:a="http://schemas.openxmlformats.org/drawingml/2006/main" noGrp="1"/>
          </p:cNvSpPr>
          <p:nvPr/>
        </p:nvSpPr>
        <p:spPr>
          <a:xfrm xmlns:a="http://schemas.openxmlformats.org/drawingml/2006/main">
            <a:off x="885413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مدير المدرسة</a:t>
            </a:r>
          </a:p>
        </p:txBody>
      </p:sp>
      <p:sp>
        <p:nvSpPr>
          <p:cNvPr id="11" name="Rectangle 10">
            <a:extLst xmlns:a="http://schemas.openxmlformats.org/drawingml/2006/main">
              <a:ext uri="{FF2B5EF4-FFF2-40B4-BE49-F238E27FC236}">
                <a16:creationId xmlns:a16="http://schemas.microsoft.com/office/drawing/2014/main" id="{7A927B28-2292-4F45-9045-6EB388B69118}"/>
              </a:ext>
            </a:extLst>
          </p:cNvPr>
          <p:cNvSpPr>
            <a:spLocks xmlns:a="http://schemas.openxmlformats.org/drawingml/2006/main" noGrp="1"/>
          </p:cNvSpPr>
          <p:nvPr/>
        </p:nvSpPr>
        <p:spPr>
          <a:xfrm xmlns:a="http://schemas.openxmlformats.org/drawingml/2006/main">
            <a:off x="8369503" y="2423160"/>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617C011E-AACD-48CE-A4BC-57BD06CE130F}"/>
              </a:ext>
            </a:extLst>
          </p:cNvPr>
          <p:cNvSpPr>
            <a:spLocks xmlns:a="http://schemas.openxmlformats.org/drawingml/2006/main" noGrp="1"/>
          </p:cNvSpPr>
          <p:nvPr/>
        </p:nvSpPr>
        <p:spPr>
          <a:xfrm xmlns:a="http://schemas.openxmlformats.org/drawingml/2006/main">
            <a:off x="6019496"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نائب المدير</a:t>
            </a:r>
          </a:p>
        </p:txBody>
      </p:sp>
      <p:sp>
        <p:nvSpPr>
          <p:cNvPr id="13" name="Rectangle 12">
            <a:extLst xmlns:a="http://schemas.openxmlformats.org/drawingml/2006/main">
              <a:ext uri="{FF2B5EF4-FFF2-40B4-BE49-F238E27FC236}">
                <a16:creationId xmlns:a16="http://schemas.microsoft.com/office/drawing/2014/main" id="{36365749-249C-49A9-82E2-564672091EE8}"/>
              </a:ext>
            </a:extLst>
          </p:cNvPr>
          <p:cNvSpPr>
            <a:spLocks xmlns:a="http://schemas.openxmlformats.org/drawingml/2006/main" noGrp="1"/>
          </p:cNvSpPr>
          <p:nvPr/>
        </p:nvSpPr>
        <p:spPr>
          <a:xfrm xmlns:a="http://schemas.openxmlformats.org/drawingml/2006/main">
            <a:off x="5534863" y="2423160"/>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23BBC3BA-4EA9-44B7-951A-EADF4FB8328C}"/>
              </a:ext>
            </a:extLst>
          </p:cNvPr>
          <p:cNvSpPr>
            <a:spLocks xmlns:a="http://schemas.openxmlformats.org/drawingml/2006/main" noGrp="1"/>
          </p:cNvSpPr>
          <p:nvPr/>
        </p:nvSpPr>
        <p:spPr>
          <a:xfrm xmlns:a="http://schemas.openxmlformats.org/drawingml/2006/main">
            <a:off x="318485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الممرضة</a:t>
            </a:r>
          </a:p>
        </p:txBody>
      </p:sp>
      <p:sp>
        <p:nvSpPr>
          <p:cNvPr id="15" name="Rectangle 14">
            <a:extLst xmlns:a="http://schemas.openxmlformats.org/drawingml/2006/main">
              <a:ext uri="{FF2B5EF4-FFF2-40B4-BE49-F238E27FC236}">
                <a16:creationId xmlns:a16="http://schemas.microsoft.com/office/drawing/2014/main" id="{D2A9B397-2973-47B3-839D-4EBDE6949473}"/>
              </a:ext>
            </a:extLst>
          </p:cNvPr>
          <p:cNvSpPr>
            <a:spLocks xmlns:a="http://schemas.openxmlformats.org/drawingml/2006/main" noGrp="1"/>
          </p:cNvSpPr>
          <p:nvPr/>
        </p:nvSpPr>
        <p:spPr>
          <a:xfrm xmlns:a="http://schemas.openxmlformats.org/drawingml/2006/main">
            <a:off x="2700223" y="2423160"/>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B9AE6C34-AF3D-49A2-BFF0-094322FA82DD}"/>
              </a:ext>
            </a:extLst>
          </p:cNvPr>
          <p:cNvSpPr>
            <a:spLocks xmlns:a="http://schemas.openxmlformats.org/drawingml/2006/main" noGrp="1"/>
          </p:cNvSpPr>
          <p:nvPr/>
        </p:nvSpPr>
        <p:spPr>
          <a:xfrm xmlns:a="http://schemas.openxmlformats.org/drawingml/2006/main">
            <a:off x="350215" y="2404872"/>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الطبيب</a:t>
            </a:r>
          </a:p>
        </p:txBody>
      </p:sp>
      <p:sp>
        <p:nvSpPr>
          <p:cNvPr id="17" name="Rectangle 16">
            <a:extLst xmlns:a="http://schemas.openxmlformats.org/drawingml/2006/main">
              <a:ext uri="{FF2B5EF4-FFF2-40B4-BE49-F238E27FC236}">
                <a16:creationId xmlns:a16="http://schemas.microsoft.com/office/drawing/2014/main" id="{2C7EF60B-D3E2-4334-AA08-992824CC4FE5}"/>
              </a:ext>
            </a:extLst>
          </p:cNvPr>
          <p:cNvSpPr>
            <a:spLocks xmlns:a="http://schemas.openxmlformats.org/drawingml/2006/main" noGrp="1"/>
          </p:cNvSpPr>
          <p:nvPr/>
        </p:nvSpPr>
        <p:spPr>
          <a:xfrm xmlns:a="http://schemas.openxmlformats.org/drawingml/2006/main">
            <a:off x="11204143" y="3547872"/>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1DC3A309-E20D-4844-8B06-4946FF740941}"/>
              </a:ext>
            </a:extLst>
          </p:cNvPr>
          <p:cNvSpPr>
            <a:spLocks xmlns:a="http://schemas.openxmlformats.org/drawingml/2006/main" noGrp="1"/>
          </p:cNvSpPr>
          <p:nvPr/>
        </p:nvSpPr>
        <p:spPr>
          <a:xfrm xmlns:a="http://schemas.openxmlformats.org/drawingml/2006/main">
            <a:off x="885413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ولي الأمر</a:t>
            </a:r>
          </a:p>
        </p:txBody>
      </p:sp>
      <p:sp>
        <p:nvSpPr>
          <p:cNvPr id="19" name="Rectangle 18">
            <a:extLst xmlns:a="http://schemas.openxmlformats.org/drawingml/2006/main">
              <a:ext uri="{FF2B5EF4-FFF2-40B4-BE49-F238E27FC236}">
                <a16:creationId xmlns:a16="http://schemas.microsoft.com/office/drawing/2014/main" id="{6336B291-FA2C-4916-B2A4-9E14024A7E07}"/>
              </a:ext>
            </a:extLst>
          </p:cNvPr>
          <p:cNvSpPr>
            <a:spLocks xmlns:a="http://schemas.openxmlformats.org/drawingml/2006/main" noGrp="1"/>
          </p:cNvSpPr>
          <p:nvPr/>
        </p:nvSpPr>
        <p:spPr>
          <a:xfrm xmlns:a="http://schemas.openxmlformats.org/drawingml/2006/main">
            <a:off x="8369503" y="3547872"/>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DAF5D365-B3DD-430A-B391-385E7D8ED07D}"/>
              </a:ext>
            </a:extLst>
          </p:cNvPr>
          <p:cNvSpPr>
            <a:spLocks xmlns:a="http://schemas.openxmlformats.org/drawingml/2006/main" noGrp="1"/>
          </p:cNvSpPr>
          <p:nvPr/>
        </p:nvSpPr>
        <p:spPr>
          <a:xfrm xmlns:a="http://schemas.openxmlformats.org/drawingml/2006/main">
            <a:off x="6019496"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المعلم</a:t>
            </a:r>
          </a:p>
        </p:txBody>
      </p:sp>
      <p:sp>
        <p:nvSpPr>
          <p:cNvPr id="21" name="Rectangle 20">
            <a:extLst xmlns:a="http://schemas.openxmlformats.org/drawingml/2006/main">
              <a:ext uri="{FF2B5EF4-FFF2-40B4-BE49-F238E27FC236}">
                <a16:creationId xmlns:a16="http://schemas.microsoft.com/office/drawing/2014/main" id="{F16224F5-1E2E-4563-8FD0-D188856BA11C}"/>
              </a:ext>
            </a:extLst>
          </p:cNvPr>
          <p:cNvSpPr>
            <a:spLocks xmlns:a="http://schemas.openxmlformats.org/drawingml/2006/main" noGrp="1"/>
          </p:cNvSpPr>
          <p:nvPr/>
        </p:nvSpPr>
        <p:spPr>
          <a:xfrm xmlns:a="http://schemas.openxmlformats.org/drawingml/2006/main">
            <a:off x="5534863" y="3547872"/>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FF41E120-7B9C-4281-84EB-3C9A6F69B246}"/>
              </a:ext>
            </a:extLst>
          </p:cNvPr>
          <p:cNvSpPr>
            <a:spLocks xmlns:a="http://schemas.openxmlformats.org/drawingml/2006/main" noGrp="1"/>
          </p:cNvSpPr>
          <p:nvPr/>
        </p:nvSpPr>
        <p:spPr>
          <a:xfrm xmlns:a="http://schemas.openxmlformats.org/drawingml/2006/main">
            <a:off x="318485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المرشد الطلابي</a:t>
            </a:r>
          </a:p>
        </p:txBody>
      </p:sp>
      <p:sp>
        <p:nvSpPr>
          <p:cNvPr id="23" name="Rectangle 22">
            <a:extLst xmlns:a="http://schemas.openxmlformats.org/drawingml/2006/main">
              <a:ext uri="{FF2B5EF4-FFF2-40B4-BE49-F238E27FC236}">
                <a16:creationId xmlns:a16="http://schemas.microsoft.com/office/drawing/2014/main" id="{9D3EE0D5-2124-49D1-B76D-988389D09C33}"/>
              </a:ext>
            </a:extLst>
          </p:cNvPr>
          <p:cNvSpPr>
            <a:spLocks xmlns:a="http://schemas.openxmlformats.org/drawingml/2006/main" noGrp="1"/>
          </p:cNvSpPr>
          <p:nvPr/>
        </p:nvSpPr>
        <p:spPr>
          <a:xfrm xmlns:a="http://schemas.openxmlformats.org/drawingml/2006/main">
            <a:off x="2700223" y="3547872"/>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A6B7121-3526-45B9-8F23-A6692B8A2596}"/>
              </a:ext>
            </a:extLst>
          </p:cNvPr>
          <p:cNvSpPr>
            <a:spLocks xmlns:a="http://schemas.openxmlformats.org/drawingml/2006/main" noGrp="1"/>
          </p:cNvSpPr>
          <p:nvPr/>
        </p:nvSpPr>
        <p:spPr>
          <a:xfrm xmlns:a="http://schemas.openxmlformats.org/drawingml/2006/main">
            <a:off x="350215" y="3529584"/>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السكرتارية</a:t>
            </a:r>
          </a:p>
        </p:txBody>
      </p:sp>
      <p:sp>
        <p:nvSpPr>
          <p:cNvPr id="25" name="Rectangle 24">
            <a:extLst xmlns:a="http://schemas.openxmlformats.org/drawingml/2006/main">
              <a:ext uri="{FF2B5EF4-FFF2-40B4-BE49-F238E27FC236}">
                <a16:creationId xmlns:a16="http://schemas.microsoft.com/office/drawing/2014/main" id="{3BDE9061-7293-4CFE-B965-AE516779CAE8}"/>
              </a:ext>
            </a:extLst>
          </p:cNvPr>
          <p:cNvSpPr>
            <a:spLocks xmlns:a="http://schemas.openxmlformats.org/drawingml/2006/main" noGrp="1"/>
          </p:cNvSpPr>
          <p:nvPr/>
        </p:nvSpPr>
        <p:spPr>
          <a:xfrm xmlns:a="http://schemas.openxmlformats.org/drawingml/2006/main">
            <a:off x="11204143" y="4672583"/>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986B412A-ED8F-4206-917F-59325BEC4097}"/>
              </a:ext>
            </a:extLst>
          </p:cNvPr>
          <p:cNvSpPr>
            <a:spLocks xmlns:a="http://schemas.openxmlformats.org/drawingml/2006/main" noGrp="1"/>
          </p:cNvSpPr>
          <p:nvPr/>
        </p:nvSpPr>
        <p:spPr>
          <a:xfrm xmlns:a="http://schemas.openxmlformats.org/drawingml/2006/main">
            <a:off x="8854135"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المقصف</a:t>
            </a:r>
          </a:p>
        </p:txBody>
      </p:sp>
      <p:sp>
        <p:nvSpPr>
          <p:cNvPr id="27" name="Rectangle 26">
            <a:extLst xmlns:a="http://schemas.openxmlformats.org/drawingml/2006/main">
              <a:ext uri="{FF2B5EF4-FFF2-40B4-BE49-F238E27FC236}">
                <a16:creationId xmlns:a16="http://schemas.microsoft.com/office/drawing/2014/main" id="{E4AEE3D0-9613-43A6-A49D-0722D9963D78}"/>
              </a:ext>
            </a:extLst>
          </p:cNvPr>
          <p:cNvSpPr>
            <a:spLocks xmlns:a="http://schemas.openxmlformats.org/drawingml/2006/main" noGrp="1"/>
          </p:cNvSpPr>
          <p:nvPr/>
        </p:nvSpPr>
        <p:spPr>
          <a:xfrm xmlns:a="http://schemas.openxmlformats.org/drawingml/2006/main">
            <a:off x="8369503" y="4672583"/>
            <a:ext cx="347472" cy="347472"/>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A2CBBEF3-C88F-4933-8B85-D0DD3A17D1B4}"/>
              </a:ext>
            </a:extLst>
          </p:cNvPr>
          <p:cNvSpPr>
            <a:spLocks xmlns:a="http://schemas.openxmlformats.org/drawingml/2006/main" noGrp="1"/>
          </p:cNvSpPr>
          <p:nvPr/>
        </p:nvSpPr>
        <p:spPr>
          <a:xfrm xmlns:a="http://schemas.openxmlformats.org/drawingml/2006/main">
            <a:off x="6019496"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الأمن</a:t>
            </a:r>
          </a:p>
        </p:txBody>
      </p:sp>
      <p:sp>
        <p:nvSpPr>
          <p:cNvPr id="29" name="Rectangle 28">
            <a:extLst xmlns:a="http://schemas.openxmlformats.org/drawingml/2006/main">
              <a:ext uri="{FF2B5EF4-FFF2-40B4-BE49-F238E27FC236}">
                <a16:creationId xmlns:a16="http://schemas.microsoft.com/office/drawing/2014/main" id="{2FA93E4E-8538-492F-B844-D3AC83D21776}"/>
              </a:ext>
            </a:extLst>
          </p:cNvPr>
          <p:cNvSpPr>
            <a:spLocks xmlns:a="http://schemas.openxmlformats.org/drawingml/2006/main" noGrp="1"/>
          </p:cNvSpPr>
          <p:nvPr/>
        </p:nvSpPr>
        <p:spPr>
          <a:xfrm xmlns:a="http://schemas.openxmlformats.org/drawingml/2006/main">
            <a:off x="5534863" y="4672583"/>
            <a:ext cx="347472" cy="347472"/>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E7495F6-C3B5-4252-BE72-82AFF9A0B9E1}"/>
              </a:ext>
            </a:extLst>
          </p:cNvPr>
          <p:cNvSpPr>
            <a:spLocks xmlns:a="http://schemas.openxmlformats.org/drawingml/2006/main" noGrp="1"/>
          </p:cNvSpPr>
          <p:nvPr/>
        </p:nvSpPr>
        <p:spPr>
          <a:xfrm xmlns:a="http://schemas.openxmlformats.org/drawingml/2006/main">
            <a:off x="3184855" y="4654296"/>
            <a:ext cx="21945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100" b="1">
                <a:solidFill>
                  <a:srgbClr val="142822"/>
                </a:solidFill>
                <a:latin typeface="Arial"/>
                <a:ea typeface="Arial"/>
                <a:cs typeface="Arial"/>
              </a:defRPr>
            </a:pPr>
            <a:r>
              <a:rPr sz="2100" b="1">
                <a:solidFill>
                  <a:srgbClr val="142822"/>
                </a:solidFill>
                <a:latin typeface="Arial"/>
                <a:ea typeface="Arial"/>
                <a:cs typeface="Arial"/>
              </a:rPr>
              <a:t>سائق الحافلة</a:t>
            </a:r>
          </a:p>
        </p:txBody>
      </p:sp>
      <p:sp>
        <p:nvSpPr>
          <p:cNvPr id="31" name="TextBox 30">
            <a:extLst xmlns:a="http://schemas.openxmlformats.org/drawingml/2006/main">
              <a:ext uri="{FF2B5EF4-FFF2-40B4-BE49-F238E27FC236}">
                <a16:creationId xmlns:a16="http://schemas.microsoft.com/office/drawing/2014/main" id="{783B166F-36F2-498E-ADBF-EEC8B9038C92}"/>
              </a:ext>
            </a:extLst>
          </p:cNvPr>
          <p:cNvSpPr>
            <a:spLocks xmlns:a="http://schemas.openxmlformats.org/drawingml/2006/main" noGrp="1"/>
          </p:cNvSpPr>
          <p:nvPr/>
        </p:nvSpPr>
        <p:spPr>
          <a:xfrm xmlns:a="http://schemas.openxmlformats.org/drawingml/2006/main">
            <a:off x="1493215" y="5925312"/>
            <a:ext cx="10058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600" b="0">
                <a:solidFill>
                  <a:srgbClr val="5B7069"/>
                </a:solidFill>
                <a:latin typeface="Arial"/>
                <a:ea typeface="Arial"/>
                <a:cs typeface="Arial"/>
              </a:defRPr>
            </a:pPr>
            <a:r>
              <a:rPr sz="1600" b="0">
                <a:solidFill>
                  <a:srgbClr val="5B7069"/>
                </a:solidFill>
                <a:latin typeface="Arial"/>
                <a:ea typeface="Arial"/>
                <a:cs typeface="Arial"/>
              </a:rPr>
              <a:t>تتضمن مكتبة المنتج ١٤٨ لقطة شاشة مرتبطة بمسارات التطبيق.</a:t>
            </a:r>
          </a:p>
        </p:txBody>
      </p:sp>
    </p:spTree>
    <p:extLst>
      <p:ext uri="{BB962C8B-B14F-4D97-AF65-F5344CB8AC3E}">
        <p14:creationId xmlns:p14="http://schemas.microsoft.com/office/powerpoint/2010/main" val="975104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A7DCF30-76D1-4E62-814D-A67535C29CC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E946EE30-0812-494D-BCA7-60DA2C92EAF4}"/>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الإدارة المدرسية</a:t>
            </a:r>
          </a:p>
        </p:txBody>
      </p:sp>
      <p:sp>
        <p:nvSpPr>
          <p:cNvPr id="4" name="TextBox 3">
            <a:extLst xmlns:a="http://schemas.openxmlformats.org/drawingml/2006/main">
              <a:ext uri="{FF2B5EF4-FFF2-40B4-BE49-F238E27FC236}">
                <a16:creationId xmlns:a16="http://schemas.microsoft.com/office/drawing/2014/main" id="{FBA894AF-4FB0-4264-AEE2-A8CB3A879380}"/>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رؤية شاملة للصحة المدرسية</a:t>
            </a:r>
          </a:p>
        </p:txBody>
      </p:sp>
      <p:sp>
        <p:nvSpPr>
          <p:cNvPr id="5" name="TextBox 4">
            <a:extLst xmlns:a="http://schemas.openxmlformats.org/drawingml/2006/main">
              <a:ext uri="{FF2B5EF4-FFF2-40B4-BE49-F238E27FC236}">
                <a16:creationId xmlns:a16="http://schemas.microsoft.com/office/drawing/2014/main" id="{7FDBFD8E-D340-4890-B83E-E75123CAF236}"/>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نظرة يومية تجمع أنشطة الرعاية والمستندات والتنبيهات ومتابعة الموظفين</a:t>
            </a:r>
          </a:p>
        </p:txBody>
      </p:sp>
      <p:sp>
        <p:nvSpPr>
          <p:cNvPr id="6" name="Rectangle 5">
            <a:extLst xmlns:a="http://schemas.openxmlformats.org/drawingml/2006/main">
              <a:ext uri="{FF2B5EF4-FFF2-40B4-BE49-F238E27FC236}">
                <a16:creationId xmlns:a16="http://schemas.microsoft.com/office/drawing/2014/main" id="{29197026-6641-46DE-A283-EE429B4B516F}"/>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C904630-B85C-4AAB-BEF9-7FB1BC7F6EC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3B21264-BCA8-40C4-8B6A-5D228CB129C2}"/>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٠٥</a:t>
            </a:r>
          </a:p>
        </p:txBody>
      </p:sp>
      <p:sp>
        <p:nvSpPr>
          <p:cNvPr id="9" name="Rectangle 8">
            <a:extLst xmlns:a="http://schemas.openxmlformats.org/drawingml/2006/main">
              <a:ext uri="{FF2B5EF4-FFF2-40B4-BE49-F238E27FC236}">
                <a16:creationId xmlns:a16="http://schemas.microsoft.com/office/drawing/2014/main" id="{CD0E16FE-13CE-4CF7-A330-220BC7EB5DB0}"/>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D7B578B-60B1-4BE7-A784-31F8227A73DE}"/>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متابعة العمل اليومي</a:t>
            </a:r>
          </a:p>
        </p:txBody>
      </p:sp>
      <p:sp>
        <p:nvSpPr>
          <p:cNvPr id="11" name="TextBox 10">
            <a:extLst xmlns:a="http://schemas.openxmlformats.org/drawingml/2006/main">
              <a:ext uri="{FF2B5EF4-FFF2-40B4-BE49-F238E27FC236}">
                <a16:creationId xmlns:a16="http://schemas.microsoft.com/office/drawing/2014/main" id="{C5B6D929-AB5D-4791-AF53-AEA355990255}"/>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جمع أولويات اليوم في شاشة واحدة للإدارة.</a:t>
            </a:r>
          </a:p>
        </p:txBody>
      </p:sp>
      <p:sp>
        <p:nvSpPr>
          <p:cNvPr id="12" name="Rectangle 11">
            <a:extLst xmlns:a="http://schemas.openxmlformats.org/drawingml/2006/main">
              <a:ext uri="{FF2B5EF4-FFF2-40B4-BE49-F238E27FC236}">
                <a16:creationId xmlns:a16="http://schemas.microsoft.com/office/drawing/2014/main" id="{5F67FF1D-30C2-4CBA-A37F-0D7CDEF5CA85}"/>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4C07102-5C88-4FF8-B71F-179867362333}"/>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الموظفون والصلاحيات</a:t>
            </a:r>
          </a:p>
        </p:txBody>
      </p:sp>
      <p:sp>
        <p:nvSpPr>
          <p:cNvPr id="14" name="TextBox 13">
            <a:extLst xmlns:a="http://schemas.openxmlformats.org/drawingml/2006/main">
              <a:ext uri="{FF2B5EF4-FFF2-40B4-BE49-F238E27FC236}">
                <a16:creationId xmlns:a16="http://schemas.microsoft.com/office/drawing/2014/main" id="{4EAAF97B-EA44-479C-8B83-9502F94F191C}"/>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إدارة فرق العمل المسؤولة عن تقديم الخدمة.</a:t>
            </a:r>
          </a:p>
        </p:txBody>
      </p:sp>
      <p:sp>
        <p:nvSpPr>
          <p:cNvPr id="15" name="Rectangle 14">
            <a:extLst xmlns:a="http://schemas.openxmlformats.org/drawingml/2006/main">
              <a:ext uri="{FF2B5EF4-FFF2-40B4-BE49-F238E27FC236}">
                <a16:creationId xmlns:a16="http://schemas.microsoft.com/office/drawing/2014/main" id="{21D3C4F6-9828-4D7B-97D8-1DB3EE06C42C}"/>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6E8503C5-4EA1-4A43-AD95-58AF6C2C00C8}"/>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التحليلات والتقارير</a:t>
            </a:r>
          </a:p>
        </p:txBody>
      </p:sp>
      <p:sp>
        <p:nvSpPr>
          <p:cNvPr id="17" name="TextBox 16">
            <a:extLst xmlns:a="http://schemas.openxmlformats.org/drawingml/2006/main">
              <a:ext uri="{FF2B5EF4-FFF2-40B4-BE49-F238E27FC236}">
                <a16:creationId xmlns:a16="http://schemas.microsoft.com/office/drawing/2014/main" id="{E4D09D46-E2D1-4E32-90E1-F0897EDBC077}"/>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مراجعة الاتجاهات ودعم التخطيط على مستوى المدرسة.</a:t>
            </a:r>
          </a:p>
        </p:txBody>
      </p:sp>
      <p:sp>
        <p:nvSpPr>
          <p:cNvPr id="18" name="Rectangle 17">
            <a:extLst xmlns:a="http://schemas.openxmlformats.org/drawingml/2006/main">
              <a:ext uri="{FF2B5EF4-FFF2-40B4-BE49-F238E27FC236}">
                <a16:creationId xmlns:a16="http://schemas.microsoft.com/office/drawing/2014/main" id="{ADCC0F05-5464-4A04-A3DD-393D7B13BCB2}"/>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524fe984d271463b"/>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C9A1D068-D851-4DBE-B3F3-3C087E0591B4}"/>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نظرة يومية</a:t>
            </a:r>
          </a:p>
        </p:txBody>
      </p:sp>
      <p:sp>
        <p:nvSpPr>
          <p:cNvPr id="21" name="Rectangle 20">
            <a:extLst xmlns:a="http://schemas.openxmlformats.org/drawingml/2006/main">
              <a:ext uri="{FF2B5EF4-FFF2-40B4-BE49-F238E27FC236}">
                <a16:creationId xmlns:a16="http://schemas.microsoft.com/office/drawing/2014/main" id="{AF408AF3-3BF3-4455-A081-9EF17DFD077B}"/>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630e6c61a8024a69"/>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2D245A4E-0602-41D5-8751-12CC0A55B400}"/>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تحليلات الصحة</a:t>
            </a:r>
          </a:p>
        </p:txBody>
      </p:sp>
      <p:sp>
        <p:nvSpPr>
          <p:cNvPr id="24" name="Rectangle 23">
            <a:extLst xmlns:a="http://schemas.openxmlformats.org/drawingml/2006/main">
              <a:ext uri="{FF2B5EF4-FFF2-40B4-BE49-F238E27FC236}">
                <a16:creationId xmlns:a16="http://schemas.microsoft.com/office/drawing/2014/main" id="{4F8453BE-4E3F-4F91-B13B-186D63B262B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69eca2ce31474f4b"/>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38B7FA7A-242E-460F-839D-BFF5355EF0ED}"/>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إدارة الموظفين</a:t>
            </a:r>
          </a:p>
        </p:txBody>
      </p:sp>
    </p:spTree>
    <p:extLst>
      <p:ext uri="{BB962C8B-B14F-4D97-AF65-F5344CB8AC3E}">
        <p14:creationId xmlns:p14="http://schemas.microsoft.com/office/powerpoint/2010/main" val="16308118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2A2F96A-C738-4441-B5AF-990D49CD5BF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3E55C73-52AD-4F01-AEED-BF68F10B389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الرعاية الصحية</a:t>
            </a:r>
          </a:p>
        </p:txBody>
      </p:sp>
      <p:sp>
        <p:nvSpPr>
          <p:cNvPr id="4" name="TextBox 3">
            <a:extLst xmlns:a="http://schemas.openxmlformats.org/drawingml/2006/main">
              <a:ext uri="{FF2B5EF4-FFF2-40B4-BE49-F238E27FC236}">
                <a16:creationId xmlns:a16="http://schemas.microsoft.com/office/drawing/2014/main" id="{D63A909D-60A7-41B7-9462-D327E2A7CCC8}"/>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مساحة عمل مخصصة للممرضة</a:t>
            </a:r>
          </a:p>
        </p:txBody>
      </p:sp>
      <p:sp>
        <p:nvSpPr>
          <p:cNvPr id="5" name="TextBox 4">
            <a:extLst xmlns:a="http://schemas.openxmlformats.org/drawingml/2006/main">
              <a:ext uri="{FF2B5EF4-FFF2-40B4-BE49-F238E27FC236}">
                <a16:creationId xmlns:a16="http://schemas.microsoft.com/office/drawing/2014/main" id="{0AA9A0EC-4A24-4186-8F97-D96C0299CE5A}"/>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تشمل العمليات البحث عن الطلاب والزيارات والتوثيق وتصعيد الحالات الطارئة</a:t>
            </a:r>
          </a:p>
        </p:txBody>
      </p:sp>
      <p:sp>
        <p:nvSpPr>
          <p:cNvPr id="6" name="Rectangle 5">
            <a:extLst xmlns:a="http://schemas.openxmlformats.org/drawingml/2006/main">
              <a:ext uri="{FF2B5EF4-FFF2-40B4-BE49-F238E27FC236}">
                <a16:creationId xmlns:a16="http://schemas.microsoft.com/office/drawing/2014/main" id="{38EA2A94-4EB6-4544-B0B2-E2FE34588B43}"/>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F41236D-42D4-4472-9ED0-BD5DBB58C64F}"/>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A03CE192-C776-4BC3-B7C5-2F7AA21F8F4D}"/>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٠٦</a:t>
            </a:r>
          </a:p>
        </p:txBody>
      </p:sp>
      <p:sp>
        <p:nvSpPr>
          <p:cNvPr id="9" name="Rectangle 8">
            <a:extLst xmlns:a="http://schemas.openxmlformats.org/drawingml/2006/main">
              <a:ext uri="{FF2B5EF4-FFF2-40B4-BE49-F238E27FC236}">
                <a16:creationId xmlns:a16="http://schemas.microsoft.com/office/drawing/2014/main" id="{070D0CDB-21C5-430D-A675-E7A464FFF43F}"/>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57A8692C-6C13-428F-95A8-4AAA47939CA4}"/>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المعلومات الصحية</a:t>
            </a:r>
          </a:p>
        </p:txBody>
      </p:sp>
      <p:sp>
        <p:nvSpPr>
          <p:cNvPr id="11" name="TextBox 10">
            <a:extLst xmlns:a="http://schemas.openxmlformats.org/drawingml/2006/main">
              <a:ext uri="{FF2B5EF4-FFF2-40B4-BE49-F238E27FC236}">
                <a16:creationId xmlns:a16="http://schemas.microsoft.com/office/drawing/2014/main" id="{391C94AF-630C-43B0-8B7E-75F2248B2031}"/>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الوصول إلى المعلومات الصحية ضمن سجل الطالب.</a:t>
            </a:r>
          </a:p>
        </p:txBody>
      </p:sp>
      <p:sp>
        <p:nvSpPr>
          <p:cNvPr id="12" name="Rectangle 11">
            <a:extLst xmlns:a="http://schemas.openxmlformats.org/drawingml/2006/main">
              <a:ext uri="{FF2B5EF4-FFF2-40B4-BE49-F238E27FC236}">
                <a16:creationId xmlns:a16="http://schemas.microsoft.com/office/drawing/2014/main" id="{CA086978-D406-4554-9F37-8BF3B52122A7}"/>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81A8C890-46B9-4A3A-8E7A-53E5DBD2BB08}"/>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توثيق الزيارات</a:t>
            </a:r>
          </a:p>
        </p:txBody>
      </p:sp>
      <p:sp>
        <p:nvSpPr>
          <p:cNvPr id="14" name="TextBox 13">
            <a:extLst xmlns:a="http://schemas.openxmlformats.org/drawingml/2006/main">
              <a:ext uri="{FF2B5EF4-FFF2-40B4-BE49-F238E27FC236}">
                <a16:creationId xmlns:a16="http://schemas.microsoft.com/office/drawing/2014/main" id="{E38B1E37-A0C7-465C-A596-A5BE3D15B66D}"/>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تنظيم نشاط العيادة اليومي وتفاصيل الزيارات.</a:t>
            </a:r>
          </a:p>
        </p:txBody>
      </p:sp>
      <p:sp>
        <p:nvSpPr>
          <p:cNvPr id="15" name="Rectangle 14">
            <a:extLst xmlns:a="http://schemas.openxmlformats.org/drawingml/2006/main">
              <a:ext uri="{FF2B5EF4-FFF2-40B4-BE49-F238E27FC236}">
                <a16:creationId xmlns:a16="http://schemas.microsoft.com/office/drawing/2014/main" id="{A7F406C6-6C01-47BB-BFFD-E63754F6C0F0}"/>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F4F320B-E2E3-4F8B-B165-C7904901AEDD}"/>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تصعيد الحالات</a:t>
            </a:r>
          </a:p>
        </p:txBody>
      </p:sp>
      <p:sp>
        <p:nvSpPr>
          <p:cNvPr id="17" name="TextBox 16">
            <a:extLst xmlns:a="http://schemas.openxmlformats.org/drawingml/2006/main">
              <a:ext uri="{FF2B5EF4-FFF2-40B4-BE49-F238E27FC236}">
                <a16:creationId xmlns:a16="http://schemas.microsoft.com/office/drawing/2014/main" id="{55DE9DF1-8485-4974-8769-FB78785D8E36}"/>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إظهار الخطوات العاجلة التالية ضمن مسار العمل.</a:t>
            </a:r>
          </a:p>
        </p:txBody>
      </p:sp>
      <p:sp>
        <p:nvSpPr>
          <p:cNvPr id="18" name="Rectangle 17">
            <a:extLst xmlns:a="http://schemas.openxmlformats.org/drawingml/2006/main">
              <a:ext uri="{FF2B5EF4-FFF2-40B4-BE49-F238E27FC236}">
                <a16:creationId xmlns:a16="http://schemas.microsoft.com/office/drawing/2014/main" id="{0809B037-6F22-46EF-876F-C10DE4ACFBC3}"/>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ed7f08b969314857"/>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64F7961C-631C-44C0-B26F-621C416A0F90}"/>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زيارات العيادة</a:t>
            </a:r>
          </a:p>
        </p:txBody>
      </p:sp>
      <p:sp>
        <p:nvSpPr>
          <p:cNvPr id="21" name="Rectangle 20">
            <a:extLst xmlns:a="http://schemas.openxmlformats.org/drawingml/2006/main">
              <a:ext uri="{FF2B5EF4-FFF2-40B4-BE49-F238E27FC236}">
                <a16:creationId xmlns:a16="http://schemas.microsoft.com/office/drawing/2014/main" id="{18F36ED4-066B-41A9-9C49-98E280F710DA}"/>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d7d2a35e0796457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3A0D48D2-2338-4F29-BF54-DF7D784CF93B}"/>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زيارة جديدة</a:t>
            </a:r>
          </a:p>
        </p:txBody>
      </p:sp>
      <p:sp>
        <p:nvSpPr>
          <p:cNvPr id="24" name="Rectangle 23">
            <a:extLst xmlns:a="http://schemas.openxmlformats.org/drawingml/2006/main">
              <a:ext uri="{FF2B5EF4-FFF2-40B4-BE49-F238E27FC236}">
                <a16:creationId xmlns:a16="http://schemas.microsoft.com/office/drawing/2014/main" id="{844B4561-4369-4703-8F8F-39210D895364}"/>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9cd0bf5f522348f4"/>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78517F76-8B42-48CF-BD1C-AEAF535FA815}"/>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تصعيد حالة طارئة</a:t>
            </a:r>
          </a:p>
        </p:txBody>
      </p:sp>
    </p:spTree>
    <p:extLst>
      <p:ext uri="{BB962C8B-B14F-4D97-AF65-F5344CB8AC3E}">
        <p14:creationId xmlns:p14="http://schemas.microsoft.com/office/powerpoint/2010/main" val="6973583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C2ECD60-1EE0-436B-94EF-DDE86F22741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1EA1012-3B26-4519-8CB5-EADEEDF3417A}"/>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إدارة الأدوية</a:t>
            </a:r>
          </a:p>
        </p:txBody>
      </p:sp>
      <p:sp>
        <p:nvSpPr>
          <p:cNvPr id="4" name="TextBox 3">
            <a:extLst xmlns:a="http://schemas.openxmlformats.org/drawingml/2006/main">
              <a:ext uri="{FF2B5EF4-FFF2-40B4-BE49-F238E27FC236}">
                <a16:creationId xmlns:a16="http://schemas.microsoft.com/office/drawing/2014/main" id="{F3A036F9-77A9-4421-85B9-AB5162CE25AC}"/>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متابعة الجرعات ومخزون الأدوية</a:t>
            </a:r>
          </a:p>
        </p:txBody>
      </p:sp>
      <p:sp>
        <p:nvSpPr>
          <p:cNvPr id="5" name="TextBox 4">
            <a:extLst xmlns:a="http://schemas.openxmlformats.org/drawingml/2006/main">
              <a:ext uri="{FF2B5EF4-FFF2-40B4-BE49-F238E27FC236}">
                <a16:creationId xmlns:a16="http://schemas.microsoft.com/office/drawing/2014/main" id="{7D7B7738-3506-49CE-A26A-682D69D068DD}"/>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تعرض الواجهة الجرعات اليومية وحالات التعارض ومخزون الصيدلية</a:t>
            </a:r>
          </a:p>
        </p:txBody>
      </p:sp>
      <p:sp>
        <p:nvSpPr>
          <p:cNvPr id="6" name="Rectangle 5">
            <a:extLst xmlns:a="http://schemas.openxmlformats.org/drawingml/2006/main">
              <a:ext uri="{FF2B5EF4-FFF2-40B4-BE49-F238E27FC236}">
                <a16:creationId xmlns:a16="http://schemas.microsoft.com/office/drawing/2014/main" id="{A1C61118-AD14-475B-846E-ADD35996706A}"/>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14192B77-C5C3-4A56-BF28-D7A18444D6D2}"/>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31CE8638-67EF-4145-9542-30D44BF06170}"/>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٠٧</a:t>
            </a:r>
          </a:p>
        </p:txBody>
      </p:sp>
      <p:sp>
        <p:nvSpPr>
          <p:cNvPr id="9" name="Rectangle 8">
            <a:extLst xmlns:a="http://schemas.openxmlformats.org/drawingml/2006/main">
              <a:ext uri="{FF2B5EF4-FFF2-40B4-BE49-F238E27FC236}">
                <a16:creationId xmlns:a16="http://schemas.microsoft.com/office/drawing/2014/main" id="{F992DCF8-5373-4A64-8906-8327988755C8}"/>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5D4AE40-6EAB-4BCC-B888-F7D415DE87FE}"/>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تخطيط الجرعات</a:t>
            </a:r>
          </a:p>
        </p:txBody>
      </p:sp>
      <p:sp>
        <p:nvSpPr>
          <p:cNvPr id="11" name="TextBox 10">
            <a:extLst xmlns:a="http://schemas.openxmlformats.org/drawingml/2006/main">
              <a:ext uri="{FF2B5EF4-FFF2-40B4-BE49-F238E27FC236}">
                <a16:creationId xmlns:a16="http://schemas.microsoft.com/office/drawing/2014/main" id="{73AF807F-E8BE-44F3-9A64-BEBF848289D2}"/>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مراجعة مهام الأدوية في شاشة مخصصة للجرعات.</a:t>
            </a:r>
          </a:p>
        </p:txBody>
      </p:sp>
      <p:sp>
        <p:nvSpPr>
          <p:cNvPr id="12" name="Rectangle 11">
            <a:extLst xmlns:a="http://schemas.openxmlformats.org/drawingml/2006/main">
              <a:ext uri="{FF2B5EF4-FFF2-40B4-BE49-F238E27FC236}">
                <a16:creationId xmlns:a16="http://schemas.microsoft.com/office/drawing/2014/main" id="{07C51842-13D0-43C9-8300-C7615CAB0116}"/>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5130B78-ABA2-4A54-8EBF-628E4D366783}"/>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التأكيد والتنبيه</a:t>
            </a:r>
          </a:p>
        </p:txBody>
      </p:sp>
      <p:sp>
        <p:nvSpPr>
          <p:cNvPr id="14" name="TextBox 13">
            <a:extLst xmlns:a="http://schemas.openxmlformats.org/drawingml/2006/main">
              <a:ext uri="{FF2B5EF4-FFF2-40B4-BE49-F238E27FC236}">
                <a16:creationId xmlns:a16="http://schemas.microsoft.com/office/drawing/2014/main" id="{4D227070-DDAA-4307-B87A-181A4A4B89EE}"/>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تنظيم الإجراءات عبر شاشات تأكيد الجرعات وتنبيهات التعارض.</a:t>
            </a:r>
          </a:p>
        </p:txBody>
      </p:sp>
      <p:sp>
        <p:nvSpPr>
          <p:cNvPr id="15" name="Rectangle 14">
            <a:extLst xmlns:a="http://schemas.openxmlformats.org/drawingml/2006/main">
              <a:ext uri="{FF2B5EF4-FFF2-40B4-BE49-F238E27FC236}">
                <a16:creationId xmlns:a16="http://schemas.microsoft.com/office/drawing/2014/main" id="{FBC91B72-73CE-4F94-9A15-8AF7D47EE83D}"/>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AB7AD26-FD25-4DB3-A554-0865145F117B}"/>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متابعة المخزون</a:t>
            </a:r>
          </a:p>
        </p:txBody>
      </p:sp>
      <p:sp>
        <p:nvSpPr>
          <p:cNvPr id="17" name="TextBox 16">
            <a:extLst xmlns:a="http://schemas.openxmlformats.org/drawingml/2006/main">
              <a:ext uri="{FF2B5EF4-FFF2-40B4-BE49-F238E27FC236}">
                <a16:creationId xmlns:a16="http://schemas.microsoft.com/office/drawing/2014/main" id="{F88033A5-9CD3-46FD-A500-871412A28C91}"/>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تخصيص شاشة لمتابعة مخزون الأدوية.</a:t>
            </a:r>
          </a:p>
        </p:txBody>
      </p:sp>
      <p:sp>
        <p:nvSpPr>
          <p:cNvPr id="18" name="Rectangle 17">
            <a:extLst xmlns:a="http://schemas.openxmlformats.org/drawingml/2006/main">
              <a:ext uri="{FF2B5EF4-FFF2-40B4-BE49-F238E27FC236}">
                <a16:creationId xmlns:a16="http://schemas.microsoft.com/office/drawing/2014/main" id="{C0C98D6F-1A88-4C4D-95D7-179C9AC27E83}"/>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6e56faa852484120"/>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CA805F0D-5EA2-4FCA-BE3E-78E89FDC9645}"/>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قائمة الأدوية</a:t>
            </a:r>
          </a:p>
        </p:txBody>
      </p:sp>
      <p:sp>
        <p:nvSpPr>
          <p:cNvPr id="21" name="Rectangle 20">
            <a:extLst xmlns:a="http://schemas.openxmlformats.org/drawingml/2006/main">
              <a:ext uri="{FF2B5EF4-FFF2-40B4-BE49-F238E27FC236}">
                <a16:creationId xmlns:a16="http://schemas.microsoft.com/office/drawing/2014/main" id="{F5EC8F51-A85C-408C-B13B-624AB4F23B72}"/>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3cce24e358c047f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ADE4F8BD-B867-4BC1-90E9-229311C10C39}"/>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تنبيه التعارض</a:t>
            </a:r>
          </a:p>
        </p:txBody>
      </p:sp>
      <p:sp>
        <p:nvSpPr>
          <p:cNvPr id="24" name="Rectangle 23">
            <a:extLst xmlns:a="http://schemas.openxmlformats.org/drawingml/2006/main">
              <a:ext uri="{FF2B5EF4-FFF2-40B4-BE49-F238E27FC236}">
                <a16:creationId xmlns:a16="http://schemas.microsoft.com/office/drawing/2014/main" id="{4C6E25C6-2CE0-4983-AC4B-F39A8DB8B258}"/>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46c4870e9bf94100"/>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26E3B695-1B8C-48F7-9DFD-6C4644E6C459}"/>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مخزون الصيدلية</a:t>
            </a:r>
          </a:p>
        </p:txBody>
      </p:sp>
    </p:spTree>
    <p:extLst>
      <p:ext uri="{BB962C8B-B14F-4D97-AF65-F5344CB8AC3E}">
        <p14:creationId xmlns:p14="http://schemas.microsoft.com/office/powerpoint/2010/main" val="18902349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5B7316D-9E3E-4DAE-9DD9-6708BFA4D51F}"/>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1690482-7E37-4710-9EDA-72D5FCDC631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إشراف الطبيب</a:t>
            </a:r>
          </a:p>
        </p:txBody>
      </p:sp>
      <p:sp>
        <p:nvSpPr>
          <p:cNvPr id="4" name="TextBox 3">
            <a:extLst xmlns:a="http://schemas.openxmlformats.org/drawingml/2006/main">
              <a:ext uri="{FF2B5EF4-FFF2-40B4-BE49-F238E27FC236}">
                <a16:creationId xmlns:a16="http://schemas.microsoft.com/office/drawing/2014/main" id="{48ABAF87-C91A-4B76-9A6E-BEFCE7228007}"/>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مراجعة طبية تتجاوز العيادة</a:t>
            </a:r>
          </a:p>
        </p:txBody>
      </p:sp>
      <p:sp>
        <p:nvSpPr>
          <p:cNvPr id="5" name="TextBox 4">
            <a:extLst xmlns:a="http://schemas.openxmlformats.org/drawingml/2006/main">
              <a:ext uri="{FF2B5EF4-FFF2-40B4-BE49-F238E27FC236}">
                <a16:creationId xmlns:a16="http://schemas.microsoft.com/office/drawing/2014/main" id="{1CCE2B87-38F1-449C-8B0A-D6B6F3BA7BB2}"/>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مساحة عمل للطبيب تدعم مراجعة البروتوكولات والحالات المحالة والمواعيد</a:t>
            </a:r>
          </a:p>
        </p:txBody>
      </p:sp>
      <p:sp>
        <p:nvSpPr>
          <p:cNvPr id="6" name="Rectangle 5">
            <a:extLst xmlns:a="http://schemas.openxmlformats.org/drawingml/2006/main">
              <a:ext uri="{FF2B5EF4-FFF2-40B4-BE49-F238E27FC236}">
                <a16:creationId xmlns:a16="http://schemas.microsoft.com/office/drawing/2014/main" id="{73605B65-E379-4ADB-81EA-5303364DA6B6}"/>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0555683-2D40-4B7F-B53B-ABC4B7C6342B}"/>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0B1FEAD3-2A52-4428-A3DE-A1D2431B1405}"/>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٠٨</a:t>
            </a:r>
          </a:p>
        </p:txBody>
      </p:sp>
      <p:sp>
        <p:nvSpPr>
          <p:cNvPr id="9" name="Rectangle 8">
            <a:extLst xmlns:a="http://schemas.openxmlformats.org/drawingml/2006/main">
              <a:ext uri="{FF2B5EF4-FFF2-40B4-BE49-F238E27FC236}">
                <a16:creationId xmlns:a16="http://schemas.microsoft.com/office/drawing/2014/main" id="{78F10F50-5622-4DFD-8C72-7A80B40FD8FD}"/>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D428209E-0CB4-40C3-881A-40D2DAA9715A}"/>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مراجعة البروتوكولات</a:t>
            </a:r>
          </a:p>
        </p:txBody>
      </p:sp>
      <p:sp>
        <p:nvSpPr>
          <p:cNvPr id="11" name="TextBox 10">
            <a:extLst xmlns:a="http://schemas.openxmlformats.org/drawingml/2006/main">
              <a:ext uri="{FF2B5EF4-FFF2-40B4-BE49-F238E27FC236}">
                <a16:creationId xmlns:a16="http://schemas.microsoft.com/office/drawing/2014/main" id="{FC03F2F1-83C9-455B-B883-ED9F7608E471}"/>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قسم مخصص لمراجعة بروتوكولات الأدوية.</a:t>
            </a:r>
          </a:p>
        </p:txBody>
      </p:sp>
      <p:sp>
        <p:nvSpPr>
          <p:cNvPr id="12" name="Rectangle 11">
            <a:extLst xmlns:a="http://schemas.openxmlformats.org/drawingml/2006/main">
              <a:ext uri="{FF2B5EF4-FFF2-40B4-BE49-F238E27FC236}">
                <a16:creationId xmlns:a16="http://schemas.microsoft.com/office/drawing/2014/main" id="{45313618-7C1D-4D4F-A053-AB2CBD43C4D6}"/>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775D4EDB-9560-4B52-8386-883769F7EABA}"/>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الحالات المحالة</a:t>
            </a:r>
          </a:p>
        </p:txBody>
      </p:sp>
      <p:sp>
        <p:nvSpPr>
          <p:cNvPr id="14" name="TextBox 13">
            <a:extLst xmlns:a="http://schemas.openxmlformats.org/drawingml/2006/main">
              <a:ext uri="{FF2B5EF4-FFF2-40B4-BE49-F238E27FC236}">
                <a16:creationId xmlns:a16="http://schemas.microsoft.com/office/drawing/2014/main" id="{B7BB23F3-AA61-4B81-A97E-A602EB7687A1}"/>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إبراز الحالات التي تتطلب متابعة طبية إضافية.</a:t>
            </a:r>
          </a:p>
        </p:txBody>
      </p:sp>
      <p:sp>
        <p:nvSpPr>
          <p:cNvPr id="15" name="Rectangle 14">
            <a:extLst xmlns:a="http://schemas.openxmlformats.org/drawingml/2006/main">
              <a:ext uri="{FF2B5EF4-FFF2-40B4-BE49-F238E27FC236}">
                <a16:creationId xmlns:a16="http://schemas.microsoft.com/office/drawing/2014/main" id="{BF4ACFFB-040A-4893-8843-0EEDBA095CC2}"/>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3195013-F591-409C-9C8C-7D8FAEE389CA}"/>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تنظيم المواعيد</a:t>
            </a:r>
          </a:p>
        </p:txBody>
      </p:sp>
      <p:sp>
        <p:nvSpPr>
          <p:cNvPr id="17" name="TextBox 16">
            <a:extLst xmlns:a="http://schemas.openxmlformats.org/drawingml/2006/main">
              <a:ext uri="{FF2B5EF4-FFF2-40B4-BE49-F238E27FC236}">
                <a16:creationId xmlns:a16="http://schemas.microsoft.com/office/drawing/2014/main" id="{5D2DD0C1-F119-4C2E-BDE1-B3F40D19BD63}"/>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عرض جدول الطبيب ضمن التطبيق.</a:t>
            </a:r>
          </a:p>
        </p:txBody>
      </p:sp>
      <p:sp>
        <p:nvSpPr>
          <p:cNvPr id="18" name="Rectangle 17">
            <a:extLst xmlns:a="http://schemas.openxmlformats.org/drawingml/2006/main">
              <a:ext uri="{FF2B5EF4-FFF2-40B4-BE49-F238E27FC236}">
                <a16:creationId xmlns:a16="http://schemas.microsoft.com/office/drawing/2014/main" id="{236ADD45-5CD4-47F6-9CB9-38748C79212C}"/>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ab0c8718a9064926"/>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67832D1C-7324-431B-B33E-E55306EA2963}"/>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الرئيسية للطبيب</a:t>
            </a:r>
          </a:p>
        </p:txBody>
      </p:sp>
      <p:sp>
        <p:nvSpPr>
          <p:cNvPr id="21" name="Rectangle 20">
            <a:extLst xmlns:a="http://schemas.openxmlformats.org/drawingml/2006/main">
              <a:ext uri="{FF2B5EF4-FFF2-40B4-BE49-F238E27FC236}">
                <a16:creationId xmlns:a16="http://schemas.microsoft.com/office/drawing/2014/main" id="{239F82C0-8FB8-48F9-B1AC-A7A3CF240095}"/>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40a70b2fa95340d3"/>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47E53172-D876-4D84-9F82-672AC2F8BF92}"/>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مراجعة البروتوكولات</a:t>
            </a:r>
          </a:p>
        </p:txBody>
      </p:sp>
      <p:sp>
        <p:nvSpPr>
          <p:cNvPr id="24" name="Rectangle 23">
            <a:extLst xmlns:a="http://schemas.openxmlformats.org/drawingml/2006/main">
              <a:ext uri="{FF2B5EF4-FFF2-40B4-BE49-F238E27FC236}">
                <a16:creationId xmlns:a16="http://schemas.microsoft.com/office/drawing/2014/main" id="{FFB14AB6-B9CE-4BD0-9FC1-49A9CC43533D}"/>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bffc3574d9044bf8"/>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2715BE30-201F-47CD-9280-EB6D836AEFFB}"/>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الحالات المحالة</a:t>
            </a:r>
          </a:p>
        </p:txBody>
      </p:sp>
    </p:spTree>
    <p:extLst>
      <p:ext uri="{BB962C8B-B14F-4D97-AF65-F5344CB8AC3E}">
        <p14:creationId xmlns:p14="http://schemas.microsoft.com/office/powerpoint/2010/main" val="13454807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6B8ED5-1A51-48C5-8C77-78DCD553F4E6}"/>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03EACF4E-2F66-4E5B-B8D7-83995C54257F}"/>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تجربة الأسرة</a:t>
            </a:r>
          </a:p>
        </p:txBody>
      </p:sp>
      <p:sp>
        <p:nvSpPr>
          <p:cNvPr id="4" name="TextBox 3">
            <a:extLst xmlns:a="http://schemas.openxmlformats.org/drawingml/2006/main">
              <a:ext uri="{FF2B5EF4-FFF2-40B4-BE49-F238E27FC236}">
                <a16:creationId xmlns:a16="http://schemas.microsoft.com/office/drawing/2014/main" id="{043B0984-D47A-411B-BEA7-8DA486041A91}"/>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الأسرة ضمن مسار الرعاية</a:t>
            </a:r>
          </a:p>
        </p:txBody>
      </p:sp>
      <p:sp>
        <p:nvSpPr>
          <p:cNvPr id="5" name="TextBox 4">
            <a:extLst xmlns:a="http://schemas.openxmlformats.org/drawingml/2006/main">
              <a:ext uri="{FF2B5EF4-FFF2-40B4-BE49-F238E27FC236}">
                <a16:creationId xmlns:a16="http://schemas.microsoft.com/office/drawing/2014/main" id="{487E619F-A416-4707-82A3-D4EBA436477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يجمع تطبيق ولي الأمر الصحة والأدوية والمستندات في تجربة جوال مألوفة</a:t>
            </a:r>
          </a:p>
        </p:txBody>
      </p:sp>
      <p:sp>
        <p:nvSpPr>
          <p:cNvPr id="6" name="Rectangle 5">
            <a:extLst xmlns:a="http://schemas.openxmlformats.org/drawingml/2006/main">
              <a:ext uri="{FF2B5EF4-FFF2-40B4-BE49-F238E27FC236}">
                <a16:creationId xmlns:a16="http://schemas.microsoft.com/office/drawing/2014/main" id="{78C8BAAE-2893-411B-9CCE-2D515F56FB0E}"/>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7322EF36-9EFE-4B85-8040-5887DDF90BE5}"/>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C1BD962-849E-4173-9073-4B0875721E3F}"/>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٠٩</a:t>
            </a:r>
          </a:p>
        </p:txBody>
      </p:sp>
      <p:sp>
        <p:nvSpPr>
          <p:cNvPr id="9" name="Rectangle 8">
            <a:extLst xmlns:a="http://schemas.openxmlformats.org/drawingml/2006/main">
              <a:ext uri="{FF2B5EF4-FFF2-40B4-BE49-F238E27FC236}">
                <a16:creationId xmlns:a16="http://schemas.microsoft.com/office/drawing/2014/main" id="{DBE0A471-9061-458E-87C0-6EF9FC4698E4}"/>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C65CFE77-F345-4523-94B1-F58F543720A4}"/>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الرئيسية للأسرة</a:t>
            </a:r>
          </a:p>
        </p:txBody>
      </p:sp>
      <p:sp>
        <p:nvSpPr>
          <p:cNvPr id="11" name="TextBox 10">
            <a:extLst xmlns:a="http://schemas.openxmlformats.org/drawingml/2006/main">
              <a:ext uri="{FF2B5EF4-FFF2-40B4-BE49-F238E27FC236}">
                <a16:creationId xmlns:a16="http://schemas.microsoft.com/office/drawing/2014/main" id="{D5E2E037-BE3D-4F10-B444-49FAFE361368}"/>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نقطة بداية واضحة لولي الأمر خلال اليوم الدراسي.</a:t>
            </a:r>
          </a:p>
        </p:txBody>
      </p:sp>
      <p:sp>
        <p:nvSpPr>
          <p:cNvPr id="12" name="Rectangle 11">
            <a:extLst xmlns:a="http://schemas.openxmlformats.org/drawingml/2006/main">
              <a:ext uri="{FF2B5EF4-FFF2-40B4-BE49-F238E27FC236}">
                <a16:creationId xmlns:a16="http://schemas.microsoft.com/office/drawing/2014/main" id="{582AB401-D577-48EB-8FC5-7A0FF7B62ABB}"/>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871EF8A7-CC07-413F-94EE-75841B7D3862}"/>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السجل الصحي والدوائي</a:t>
            </a:r>
          </a:p>
        </p:txBody>
      </p:sp>
      <p:sp>
        <p:nvSpPr>
          <p:cNvPr id="14" name="TextBox 13">
            <a:extLst xmlns:a="http://schemas.openxmlformats.org/drawingml/2006/main">
              <a:ext uri="{FF2B5EF4-FFF2-40B4-BE49-F238E27FC236}">
                <a16:creationId xmlns:a16="http://schemas.microsoft.com/office/drawing/2014/main" id="{9F860B61-4CD4-457C-99EB-2C0DB807CF7F}"/>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إبقاء الأسرة على اطلاع بأنشطة رعاية الطفل.</a:t>
            </a:r>
          </a:p>
        </p:txBody>
      </p:sp>
      <p:sp>
        <p:nvSpPr>
          <p:cNvPr id="15" name="Rectangle 14">
            <a:extLst xmlns:a="http://schemas.openxmlformats.org/drawingml/2006/main">
              <a:ext uri="{FF2B5EF4-FFF2-40B4-BE49-F238E27FC236}">
                <a16:creationId xmlns:a16="http://schemas.microsoft.com/office/drawing/2014/main" id="{B9E1BC40-4420-4636-AE1D-E87CF364504B}"/>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16592C2-EBFC-4A9E-A559-08AD0D196685}"/>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المستندات في مكان واحد</a:t>
            </a:r>
          </a:p>
        </p:txBody>
      </p:sp>
      <p:sp>
        <p:nvSpPr>
          <p:cNvPr id="17" name="TextBox 16">
            <a:extLst xmlns:a="http://schemas.openxmlformats.org/drawingml/2006/main">
              <a:ext uri="{FF2B5EF4-FFF2-40B4-BE49-F238E27FC236}">
                <a16:creationId xmlns:a16="http://schemas.microsoft.com/office/drawing/2014/main" id="{DAC07731-766C-4713-A2B7-BB6FA5775CE9}"/>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الوصول بسهولة إلى مستندات الصحة المدرسية.</a:t>
            </a:r>
          </a:p>
        </p:txBody>
      </p:sp>
      <p:sp>
        <p:nvSpPr>
          <p:cNvPr id="18" name="Rectangle 17">
            <a:extLst xmlns:a="http://schemas.openxmlformats.org/drawingml/2006/main">
              <a:ext uri="{FF2B5EF4-FFF2-40B4-BE49-F238E27FC236}">
                <a16:creationId xmlns:a16="http://schemas.microsoft.com/office/drawing/2014/main" id="{06DA312F-0E0E-4B2B-BBE8-9955A2DC05A9}"/>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3bed53b2d039425f"/>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DFB938DB-07C8-4B07-BD65-C6912434CD61}"/>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الرئيسية لولي الأمر</a:t>
            </a:r>
          </a:p>
        </p:txBody>
      </p:sp>
      <p:sp>
        <p:nvSpPr>
          <p:cNvPr id="21" name="Rectangle 20">
            <a:extLst xmlns:a="http://schemas.openxmlformats.org/drawingml/2006/main">
              <a:ext uri="{FF2B5EF4-FFF2-40B4-BE49-F238E27FC236}">
                <a16:creationId xmlns:a16="http://schemas.microsoft.com/office/drawing/2014/main" id="{F17CD93F-53AC-455A-BC90-C8D974526E57}"/>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09ddd84e8b28426c"/>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2B737A25-5103-4298-AC66-3566BC8DB5B1}"/>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السجل الصحي</a:t>
            </a:r>
          </a:p>
        </p:txBody>
      </p:sp>
      <p:sp>
        <p:nvSpPr>
          <p:cNvPr id="24" name="Rectangle 23">
            <a:extLst xmlns:a="http://schemas.openxmlformats.org/drawingml/2006/main">
              <a:ext uri="{FF2B5EF4-FFF2-40B4-BE49-F238E27FC236}">
                <a16:creationId xmlns:a16="http://schemas.microsoft.com/office/drawing/2014/main" id="{8C70BD1A-54BE-4716-A966-41DD49D0D302}"/>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63a99be4e8cf4c0b"/>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916E621C-4C30-4E95-B661-6E147402EAB1}"/>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المستندات</a:t>
            </a:r>
          </a:p>
        </p:txBody>
      </p:sp>
    </p:spTree>
    <p:extLst>
      <p:ext uri="{BB962C8B-B14F-4D97-AF65-F5344CB8AC3E}">
        <p14:creationId xmlns:p14="http://schemas.microsoft.com/office/powerpoint/2010/main" val="17520720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84C8210-383D-4CD0-A216-40235DE0A1AC}"/>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8881509-0F03-4DA7-A23E-37EDB707AF36}"/>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الموافقات والاستلام</a:t>
            </a:r>
          </a:p>
        </p:txBody>
      </p:sp>
      <p:sp>
        <p:nvSpPr>
          <p:cNvPr id="4" name="TextBox 3">
            <a:extLst xmlns:a="http://schemas.openxmlformats.org/drawingml/2006/main">
              <a:ext uri="{FF2B5EF4-FFF2-40B4-BE49-F238E27FC236}">
                <a16:creationId xmlns:a16="http://schemas.microsoft.com/office/drawing/2014/main" id="{3C070657-93DE-4031-83C5-1070522A1341}"/>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ربط الطلب باستجابة ولي الأمر</a:t>
            </a:r>
          </a:p>
        </p:txBody>
      </p:sp>
      <p:sp>
        <p:nvSpPr>
          <p:cNvPr id="5" name="TextBox 4">
            <a:extLst xmlns:a="http://schemas.openxmlformats.org/drawingml/2006/main">
              <a:ext uri="{FF2B5EF4-FFF2-40B4-BE49-F238E27FC236}">
                <a16:creationId xmlns:a16="http://schemas.microsoft.com/office/drawing/2014/main" id="{D540B20F-DA97-4A99-A108-E902AEFFD804}"/>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تربط شاشات الموافقة والاستلام المصرح به بين إجراءات المدرسة وولي الأمر</a:t>
            </a:r>
          </a:p>
        </p:txBody>
      </p:sp>
      <p:sp>
        <p:nvSpPr>
          <p:cNvPr id="6" name="Rectangle 5">
            <a:extLst xmlns:a="http://schemas.openxmlformats.org/drawingml/2006/main">
              <a:ext uri="{FF2B5EF4-FFF2-40B4-BE49-F238E27FC236}">
                <a16:creationId xmlns:a16="http://schemas.microsoft.com/office/drawing/2014/main" id="{DF4874F1-FD40-4E4D-B78B-FA7993EA93A9}"/>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03408B9-025F-4EBC-A601-83DB03EF47AA}"/>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D257A15-35F7-4AB4-A25E-A73554034798}"/>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١٠</a:t>
            </a:r>
          </a:p>
        </p:txBody>
      </p:sp>
      <p:sp>
        <p:nvSpPr>
          <p:cNvPr id="9" name="Rectangle 8">
            <a:extLst xmlns:a="http://schemas.openxmlformats.org/drawingml/2006/main">
              <a:ext uri="{FF2B5EF4-FFF2-40B4-BE49-F238E27FC236}">
                <a16:creationId xmlns:a16="http://schemas.microsoft.com/office/drawing/2014/main" id="{0E3E6D63-7806-45E5-A6CE-204EA7992393}"/>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D8964F4E-1F87-4475-BC54-B2353E2C3FAC}"/>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الاستجابة للطوارئ</a:t>
            </a:r>
          </a:p>
        </p:txBody>
      </p:sp>
      <p:sp>
        <p:nvSpPr>
          <p:cNvPr id="11" name="TextBox 10">
            <a:extLst xmlns:a="http://schemas.openxmlformats.org/drawingml/2006/main">
              <a:ext uri="{FF2B5EF4-FFF2-40B4-BE49-F238E27FC236}">
                <a16:creationId xmlns:a16="http://schemas.microsoft.com/office/drawing/2014/main" id="{3DEFE085-6320-4046-8F84-791D3574A009}"/>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شاشة مخصصة لموافقة ولي الأمر في الحالات الطارئة.</a:t>
            </a:r>
          </a:p>
        </p:txBody>
      </p:sp>
      <p:sp>
        <p:nvSpPr>
          <p:cNvPr id="12" name="Rectangle 11">
            <a:extLst xmlns:a="http://schemas.openxmlformats.org/drawingml/2006/main">
              <a:ext uri="{FF2B5EF4-FFF2-40B4-BE49-F238E27FC236}">
                <a16:creationId xmlns:a16="http://schemas.microsoft.com/office/drawing/2014/main" id="{16C93F92-F272-4CAD-9AA5-B23281A03A10}"/>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869E2C58-0527-46A1-BF86-6EF45239BD7F}"/>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المصرح لهم بالاستلام</a:t>
            </a:r>
          </a:p>
        </p:txBody>
      </p:sp>
      <p:sp>
        <p:nvSpPr>
          <p:cNvPr id="14" name="TextBox 13">
            <a:extLst xmlns:a="http://schemas.openxmlformats.org/drawingml/2006/main">
              <a:ext uri="{FF2B5EF4-FFF2-40B4-BE49-F238E27FC236}">
                <a16:creationId xmlns:a16="http://schemas.microsoft.com/office/drawing/2014/main" id="{2AE154DB-BC88-4DE7-8611-369EFB2FAAFC}"/>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تنظيم قائمة الأشخاص المصرح لهم باستلام الطالب.</a:t>
            </a:r>
          </a:p>
        </p:txBody>
      </p:sp>
      <p:sp>
        <p:nvSpPr>
          <p:cNvPr id="15" name="Rectangle 14">
            <a:extLst xmlns:a="http://schemas.openxmlformats.org/drawingml/2006/main">
              <a:ext uri="{FF2B5EF4-FFF2-40B4-BE49-F238E27FC236}">
                <a16:creationId xmlns:a16="http://schemas.microsoft.com/office/drawing/2014/main" id="{C1F5A534-EA3A-491E-A0AB-D13D9F149453}"/>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F8775925-6F49-4AA6-A84A-7625A296EF37}"/>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رمز الاستلام</a:t>
            </a:r>
          </a:p>
        </p:txBody>
      </p:sp>
      <p:sp>
        <p:nvSpPr>
          <p:cNvPr id="17" name="TextBox 16">
            <a:extLst xmlns:a="http://schemas.openxmlformats.org/drawingml/2006/main">
              <a:ext uri="{FF2B5EF4-FFF2-40B4-BE49-F238E27FC236}">
                <a16:creationId xmlns:a16="http://schemas.microsoft.com/office/drawing/2014/main" id="{86C04EBA-2AAE-4739-BA86-1F53531E5F9F}"/>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عرض هوية الاستلام القابلة للمسح في تطبيق الأسرة.</a:t>
            </a:r>
          </a:p>
        </p:txBody>
      </p:sp>
      <p:sp>
        <p:nvSpPr>
          <p:cNvPr id="18" name="Rectangle 17">
            <a:extLst xmlns:a="http://schemas.openxmlformats.org/drawingml/2006/main">
              <a:ext uri="{FF2B5EF4-FFF2-40B4-BE49-F238E27FC236}">
                <a16:creationId xmlns:a16="http://schemas.microsoft.com/office/drawing/2014/main" id="{F4E2C410-E070-49D3-A25C-F44B61A6BE7E}"/>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8c7c3ce7b7ef47da"/>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D43055BE-DED6-4DAB-A2E4-608F76894132}"/>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الرد على طلب الموافقة</a:t>
            </a:r>
          </a:p>
        </p:txBody>
      </p:sp>
      <p:sp>
        <p:nvSpPr>
          <p:cNvPr id="21" name="Rectangle 20">
            <a:extLst xmlns:a="http://schemas.openxmlformats.org/drawingml/2006/main">
              <a:ext uri="{FF2B5EF4-FFF2-40B4-BE49-F238E27FC236}">
                <a16:creationId xmlns:a16="http://schemas.microsoft.com/office/drawing/2014/main" id="{170E19C6-699B-4916-B0D8-9AF19417205C}"/>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a44a809d1e644c2f"/>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C40BBCA4-DD51-4CDC-AF4E-BF797452055B}"/>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المصرح لهم بالاستلام</a:t>
            </a:r>
          </a:p>
        </p:txBody>
      </p:sp>
      <p:sp>
        <p:nvSpPr>
          <p:cNvPr id="24" name="Rectangle 23">
            <a:extLst xmlns:a="http://schemas.openxmlformats.org/drawingml/2006/main">
              <a:ext uri="{FF2B5EF4-FFF2-40B4-BE49-F238E27FC236}">
                <a16:creationId xmlns:a16="http://schemas.microsoft.com/office/drawing/2014/main" id="{C3601731-E51F-495D-8A73-69C7CE08DF4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c9cbc1df87b64d37"/>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C538E2E4-BED9-481A-AF8F-F8B3CD614686}"/>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رمز الاستلام</a:t>
            </a:r>
          </a:p>
        </p:txBody>
      </p:sp>
    </p:spTree>
    <p:extLst>
      <p:ext uri="{BB962C8B-B14F-4D97-AF65-F5344CB8AC3E}">
        <p14:creationId xmlns:p14="http://schemas.microsoft.com/office/powerpoint/2010/main" val="8075092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3B3CB79-5F4C-4950-ABC6-1089E36960F9}"/>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52A1F4A-CFCD-4858-A4CE-0C810FB4F7F7}"/>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المتابعة الصفية</a:t>
            </a:r>
          </a:p>
        </p:txBody>
      </p:sp>
      <p:sp>
        <p:nvSpPr>
          <p:cNvPr id="4" name="TextBox 3">
            <a:extLst xmlns:a="http://schemas.openxmlformats.org/drawingml/2006/main">
              <a:ext uri="{FF2B5EF4-FFF2-40B4-BE49-F238E27FC236}">
                <a16:creationId xmlns:a16="http://schemas.microsoft.com/office/drawing/2014/main" id="{F83F55CA-7F6B-4988-9617-BAE52951D147}"/>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المعلومات الصحية خلال اليوم الدراسي</a:t>
            </a:r>
          </a:p>
        </p:txBody>
      </p:sp>
      <p:sp>
        <p:nvSpPr>
          <p:cNvPr id="5" name="TextBox 4">
            <a:extLst xmlns:a="http://schemas.openxmlformats.org/drawingml/2006/main">
              <a:ext uri="{FF2B5EF4-FFF2-40B4-BE49-F238E27FC236}">
                <a16:creationId xmlns:a16="http://schemas.microsoft.com/office/drawing/2014/main" id="{8F22C303-03BA-4588-ADFA-18325632E932}"/>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واجهات للمعلم تركز على الحضور والاعتبارات الصحية والإحالات والإعفاءات</a:t>
            </a:r>
          </a:p>
        </p:txBody>
      </p:sp>
      <p:sp>
        <p:nvSpPr>
          <p:cNvPr id="6" name="Rectangle 5">
            <a:extLst xmlns:a="http://schemas.openxmlformats.org/drawingml/2006/main">
              <a:ext uri="{FF2B5EF4-FFF2-40B4-BE49-F238E27FC236}">
                <a16:creationId xmlns:a16="http://schemas.microsoft.com/office/drawing/2014/main" id="{06783369-7BB5-4C29-9824-DFC921C454F1}"/>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D348394-5E17-45A2-868F-77368A482A21}"/>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55CE69C6-28DD-4E29-B3A0-A7955BA66BDB}"/>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١١</a:t>
            </a:r>
          </a:p>
        </p:txBody>
      </p:sp>
      <p:sp>
        <p:nvSpPr>
          <p:cNvPr id="9" name="Rectangle 8">
            <a:extLst xmlns:a="http://schemas.openxmlformats.org/drawingml/2006/main">
              <a:ext uri="{FF2B5EF4-FFF2-40B4-BE49-F238E27FC236}">
                <a16:creationId xmlns:a16="http://schemas.microsoft.com/office/drawing/2014/main" id="{C6B78AF3-C472-4A69-8251-C557835CBAB2}"/>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BC5D01A-CBF0-4EAB-A9CB-0EB63794C00E}"/>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متابعة الحضور</a:t>
            </a:r>
          </a:p>
        </p:txBody>
      </p:sp>
      <p:sp>
        <p:nvSpPr>
          <p:cNvPr id="11" name="TextBox 10">
            <a:extLst xmlns:a="http://schemas.openxmlformats.org/drawingml/2006/main">
              <a:ext uri="{FF2B5EF4-FFF2-40B4-BE49-F238E27FC236}">
                <a16:creationId xmlns:a16="http://schemas.microsoft.com/office/drawing/2014/main" id="{AC150E91-FB60-4509-BF92-0F91D042B3D2}"/>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عرض صفي يدعم متابعة العمل اليومي.</a:t>
            </a:r>
          </a:p>
        </p:txBody>
      </p:sp>
      <p:sp>
        <p:nvSpPr>
          <p:cNvPr id="12" name="Rectangle 11">
            <a:extLst xmlns:a="http://schemas.openxmlformats.org/drawingml/2006/main">
              <a:ext uri="{FF2B5EF4-FFF2-40B4-BE49-F238E27FC236}">
                <a16:creationId xmlns:a16="http://schemas.microsoft.com/office/drawing/2014/main" id="{FEB574F8-297F-47C6-8546-D2CFA5A3072B}"/>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19056ABC-B384-44A7-BDCC-21EC0E1FFE38}"/>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الاعتبارات الصحية</a:t>
            </a:r>
          </a:p>
        </p:txBody>
      </p:sp>
      <p:sp>
        <p:nvSpPr>
          <p:cNvPr id="14" name="TextBox 13">
            <a:extLst xmlns:a="http://schemas.openxmlformats.org/drawingml/2006/main">
              <a:ext uri="{FF2B5EF4-FFF2-40B4-BE49-F238E27FC236}">
                <a16:creationId xmlns:a16="http://schemas.microsoft.com/office/drawing/2014/main" id="{30D23E8F-C0A2-4E2C-B339-04594DC28DB2}"/>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إظهار احتياجات الطلاب ذات الصلة للمعلم.</a:t>
            </a:r>
          </a:p>
        </p:txBody>
      </p:sp>
      <p:sp>
        <p:nvSpPr>
          <p:cNvPr id="15" name="Rectangle 14">
            <a:extLst xmlns:a="http://schemas.openxmlformats.org/drawingml/2006/main">
              <a:ext uri="{FF2B5EF4-FFF2-40B4-BE49-F238E27FC236}">
                <a16:creationId xmlns:a16="http://schemas.microsoft.com/office/drawing/2014/main" id="{7A56BC87-23E6-4B00-8E54-495BA843F179}"/>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BBFC41E1-12B7-4841-B33C-7097BA25F715}"/>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الإحالة إلى العيادة</a:t>
            </a:r>
          </a:p>
        </p:txBody>
      </p:sp>
      <p:sp>
        <p:nvSpPr>
          <p:cNvPr id="17" name="TextBox 16">
            <a:extLst xmlns:a="http://schemas.openxmlformats.org/drawingml/2006/main">
              <a:ext uri="{FF2B5EF4-FFF2-40B4-BE49-F238E27FC236}">
                <a16:creationId xmlns:a16="http://schemas.microsoft.com/office/drawing/2014/main" id="{77DDA2E6-3BE6-4777-A8BA-1F656FB07E13}"/>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مسار واضح لإحالة الطالب إلى العيادة المدرسية.</a:t>
            </a:r>
          </a:p>
        </p:txBody>
      </p:sp>
      <p:sp>
        <p:nvSpPr>
          <p:cNvPr id="18" name="Rectangle 17">
            <a:extLst xmlns:a="http://schemas.openxmlformats.org/drawingml/2006/main">
              <a:ext uri="{FF2B5EF4-FFF2-40B4-BE49-F238E27FC236}">
                <a16:creationId xmlns:a16="http://schemas.microsoft.com/office/drawing/2014/main" id="{FBFE1912-1DC8-4A29-9BAE-4289D5056CB1}"/>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06e299bd44294b10"/>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31419487-0CB6-4A4A-B6E7-F4828ACB09EF}"/>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الحضور</a:t>
            </a:r>
          </a:p>
        </p:txBody>
      </p:sp>
      <p:sp>
        <p:nvSpPr>
          <p:cNvPr id="21" name="Rectangle 20">
            <a:extLst xmlns:a="http://schemas.openxmlformats.org/drawingml/2006/main">
              <a:ext uri="{FF2B5EF4-FFF2-40B4-BE49-F238E27FC236}">
                <a16:creationId xmlns:a16="http://schemas.microsoft.com/office/drawing/2014/main" id="{9CE1D2BE-AD45-41CB-851C-8F76F4395442}"/>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23f45c70fd0e4063"/>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B6487548-66EF-4654-A58A-D3F8CE696C94}"/>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الاعتبارات الصحية</a:t>
            </a:r>
          </a:p>
        </p:txBody>
      </p:sp>
      <p:sp>
        <p:nvSpPr>
          <p:cNvPr id="24" name="Rectangle 23">
            <a:extLst xmlns:a="http://schemas.openxmlformats.org/drawingml/2006/main">
              <a:ext uri="{FF2B5EF4-FFF2-40B4-BE49-F238E27FC236}">
                <a16:creationId xmlns:a16="http://schemas.microsoft.com/office/drawing/2014/main" id="{B791574A-CB05-4243-AD44-50490FC35D28}"/>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b8b5b6673abb44be"/>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339B56F8-64E0-4126-9C5C-EC1D08444E49}"/>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الإحالة إلى العيادة</a:t>
            </a:r>
          </a:p>
        </p:txBody>
      </p:sp>
    </p:spTree>
    <p:extLst>
      <p:ext uri="{BB962C8B-B14F-4D97-AF65-F5344CB8AC3E}">
        <p14:creationId xmlns:p14="http://schemas.microsoft.com/office/powerpoint/2010/main" val="898060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7531912-D692-4A96-A648-10621B34A977}"/>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1480B86-5B28-4FC4-8E2C-8E82BBD6BC49}"/>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سلامة الطلاب</a:t>
            </a:r>
          </a:p>
        </p:txBody>
      </p:sp>
      <p:sp>
        <p:nvSpPr>
          <p:cNvPr id="4" name="TextBox 3">
            <a:extLst xmlns:a="http://schemas.openxmlformats.org/drawingml/2006/main">
              <a:ext uri="{FF2B5EF4-FFF2-40B4-BE49-F238E27FC236}">
                <a16:creationId xmlns:a16="http://schemas.microsoft.com/office/drawing/2014/main" id="{2981C9F1-4CF6-4117-9A31-2B85C9408792}"/>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تنسيق الوصول والمغادرة</a:t>
            </a:r>
          </a:p>
        </p:txBody>
      </p:sp>
      <p:sp>
        <p:nvSpPr>
          <p:cNvPr id="5" name="TextBox 4">
            <a:extLst xmlns:a="http://schemas.openxmlformats.org/drawingml/2006/main">
              <a:ext uri="{FF2B5EF4-FFF2-40B4-BE49-F238E27FC236}">
                <a16:creationId xmlns:a16="http://schemas.microsoft.com/office/drawing/2014/main" id="{977848E4-B678-4496-B32F-1F0ABA4C5C06}"/>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واجهات تشغيل مخصصة لفرق الأمن والنقل</a:t>
            </a:r>
          </a:p>
        </p:txBody>
      </p:sp>
      <p:sp>
        <p:nvSpPr>
          <p:cNvPr id="6" name="Rectangle 5">
            <a:extLst xmlns:a="http://schemas.openxmlformats.org/drawingml/2006/main">
              <a:ext uri="{FF2B5EF4-FFF2-40B4-BE49-F238E27FC236}">
                <a16:creationId xmlns:a16="http://schemas.microsoft.com/office/drawing/2014/main" id="{2C39E6EC-6899-4EB8-B666-E3C218F02BA9}"/>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4C43884-DF5E-4278-AB5E-91EAC1E82C31}"/>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D4628F8B-43B2-4FC8-8DD2-D360958B096E}"/>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١٢</a:t>
            </a:r>
          </a:p>
        </p:txBody>
      </p:sp>
      <p:sp>
        <p:nvSpPr>
          <p:cNvPr id="9" name="Rectangle 8">
            <a:extLst xmlns:a="http://schemas.openxmlformats.org/drawingml/2006/main">
              <a:ext uri="{FF2B5EF4-FFF2-40B4-BE49-F238E27FC236}">
                <a16:creationId xmlns:a16="http://schemas.microsoft.com/office/drawing/2014/main" id="{D1E3C13A-00B0-48D9-8529-070C6995F3CA}"/>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E75D6CE4-5D80-450E-80F5-5B5B29079233}"/>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التحقق عند الاستلام</a:t>
            </a:r>
          </a:p>
        </p:txBody>
      </p:sp>
      <p:sp>
        <p:nvSpPr>
          <p:cNvPr id="11" name="TextBox 10">
            <a:extLst xmlns:a="http://schemas.openxmlformats.org/drawingml/2006/main">
              <a:ext uri="{FF2B5EF4-FFF2-40B4-BE49-F238E27FC236}">
                <a16:creationId xmlns:a16="http://schemas.microsoft.com/office/drawing/2014/main" id="{EE58A2EC-E98C-460B-8DCA-1F245939C283}"/>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تنظيم عمل البوابة عبر قائمة الاستلام والتحقق اليدوي.</a:t>
            </a:r>
          </a:p>
        </p:txBody>
      </p:sp>
      <p:sp>
        <p:nvSpPr>
          <p:cNvPr id="12" name="Rectangle 11">
            <a:extLst xmlns:a="http://schemas.openxmlformats.org/drawingml/2006/main">
              <a:ext uri="{FF2B5EF4-FFF2-40B4-BE49-F238E27FC236}">
                <a16:creationId xmlns:a16="http://schemas.microsoft.com/office/drawing/2014/main" id="{997B9803-EC15-4E8E-8664-97508BE71279}"/>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3E1A01FA-E26A-4C9D-8BBB-C6B15EDC43EE}"/>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عمليات النقل</a:t>
            </a:r>
          </a:p>
        </p:txBody>
      </p:sp>
      <p:sp>
        <p:nvSpPr>
          <p:cNvPr id="14" name="TextBox 13">
            <a:extLst xmlns:a="http://schemas.openxmlformats.org/drawingml/2006/main">
              <a:ext uri="{FF2B5EF4-FFF2-40B4-BE49-F238E27FC236}">
                <a16:creationId xmlns:a16="http://schemas.microsoft.com/office/drawing/2014/main" id="{5BEB0B92-F428-4097-97E6-42969B246572}"/>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مسارات الحافلة والصعود وسجل الرحلات لدعم السائق.</a:t>
            </a:r>
          </a:p>
        </p:txBody>
      </p:sp>
      <p:sp>
        <p:nvSpPr>
          <p:cNvPr id="15" name="Rectangle 14">
            <a:extLst xmlns:a="http://schemas.openxmlformats.org/drawingml/2006/main">
              <a:ext uri="{FF2B5EF4-FFF2-40B4-BE49-F238E27FC236}">
                <a16:creationId xmlns:a16="http://schemas.microsoft.com/office/drawing/2014/main" id="{C220963A-652B-474F-B01C-114BEEA99C64}"/>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3276C279-10FF-41D5-A465-30F891F2F5E5}"/>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مسؤولية مشتركة</a:t>
            </a:r>
          </a:p>
        </p:txBody>
      </p:sp>
      <p:sp>
        <p:nvSpPr>
          <p:cNvPr id="17" name="TextBox 16">
            <a:extLst xmlns:a="http://schemas.openxmlformats.org/drawingml/2006/main">
              <a:ext uri="{FF2B5EF4-FFF2-40B4-BE49-F238E27FC236}">
                <a16:creationId xmlns:a16="http://schemas.microsoft.com/office/drawing/2014/main" id="{1ED706D1-0EAB-4672-BDE3-7D5FD32746FD}"/>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ربط المدرسة وموظفي النقل وأولياء الأمور المصرح لهم.</a:t>
            </a:r>
          </a:p>
        </p:txBody>
      </p:sp>
      <p:sp>
        <p:nvSpPr>
          <p:cNvPr id="18" name="Rectangle 17">
            <a:extLst xmlns:a="http://schemas.openxmlformats.org/drawingml/2006/main">
              <a:ext uri="{FF2B5EF4-FFF2-40B4-BE49-F238E27FC236}">
                <a16:creationId xmlns:a16="http://schemas.microsoft.com/office/drawing/2014/main" id="{4E789BC4-A4CB-4E53-B77E-6587D1EB309F}"/>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2a799579785a4c6b"/>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EF419874-38FA-4EEA-AC3E-003BFEE5BEE4}"/>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قائمة الاستلام</a:t>
            </a:r>
          </a:p>
        </p:txBody>
      </p:sp>
      <p:sp>
        <p:nvSpPr>
          <p:cNvPr id="21" name="Rectangle 20">
            <a:extLst xmlns:a="http://schemas.openxmlformats.org/drawingml/2006/main">
              <a:ext uri="{FF2B5EF4-FFF2-40B4-BE49-F238E27FC236}">
                <a16:creationId xmlns:a16="http://schemas.microsoft.com/office/drawing/2014/main" id="{75AD0677-207D-4604-99F1-C6CCAAEB1C25}"/>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f7e5fc5ffab54af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5F8663F8-DEFF-4BEB-BF47-0F8A576E326E}"/>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التحقق اليدوي</a:t>
            </a:r>
          </a:p>
        </p:txBody>
      </p:sp>
      <p:sp>
        <p:nvSpPr>
          <p:cNvPr id="24" name="Rectangle 23">
            <a:extLst xmlns:a="http://schemas.openxmlformats.org/drawingml/2006/main">
              <a:ext uri="{FF2B5EF4-FFF2-40B4-BE49-F238E27FC236}">
                <a16:creationId xmlns:a16="http://schemas.microsoft.com/office/drawing/2014/main" id="{66AE5EF2-185C-4CF5-9102-D521AB127BE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5f06c41824ff4d6d"/>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31E2FD53-16B4-4D68-9D15-6375474C5998}"/>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مسار الحافلة</a:t>
            </a:r>
          </a:p>
        </p:txBody>
      </p:sp>
    </p:spTree>
    <p:extLst>
      <p:ext uri="{BB962C8B-B14F-4D97-AF65-F5344CB8AC3E}">
        <p14:creationId xmlns:p14="http://schemas.microsoft.com/office/powerpoint/2010/main" val="16763496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7CEC224-1BB6-40C5-8611-84C6083DFA09}"/>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FAD6F68-58C1-44DD-AF18-A01A539B03D9}"/>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سلامة الغذاء</a:t>
            </a:r>
          </a:p>
        </p:txBody>
      </p:sp>
      <p:sp>
        <p:nvSpPr>
          <p:cNvPr id="4" name="TextBox 3">
            <a:extLst xmlns:a="http://schemas.openxmlformats.org/drawingml/2006/main">
              <a:ext uri="{FF2B5EF4-FFF2-40B4-BE49-F238E27FC236}">
                <a16:creationId xmlns:a16="http://schemas.microsoft.com/office/drawing/2014/main" id="{C0FC8F1E-9021-4720-8EED-CD15973FAA1F}"/>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معلومات أوضح لقرارات المقصف</a:t>
            </a:r>
          </a:p>
        </p:txBody>
      </p:sp>
      <p:sp>
        <p:nvSpPr>
          <p:cNvPr id="5" name="TextBox 4">
            <a:extLst xmlns:a="http://schemas.openxmlformats.org/drawingml/2006/main">
              <a:ext uri="{FF2B5EF4-FFF2-40B4-BE49-F238E27FC236}">
                <a16:creationId xmlns:a16="http://schemas.microsoft.com/office/drawing/2014/main" id="{CBABB1CC-B7BD-4FC7-8D7B-3EF8035A5EC9}"/>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توسّع تنبيهات الحساسية ونقاط البيع نطاق المنتج خارج العيادة</a:t>
            </a:r>
          </a:p>
        </p:txBody>
      </p:sp>
      <p:sp>
        <p:nvSpPr>
          <p:cNvPr id="6" name="Rectangle 5">
            <a:extLst xmlns:a="http://schemas.openxmlformats.org/drawingml/2006/main">
              <a:ext uri="{FF2B5EF4-FFF2-40B4-BE49-F238E27FC236}">
                <a16:creationId xmlns:a16="http://schemas.microsoft.com/office/drawing/2014/main" id="{ED0B10DB-319D-4A41-9791-0268BBCF54F7}"/>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45D553A-BBD6-4CAF-A256-D8AC726EBDCF}"/>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DBC9F44A-1259-4882-9502-EB4E27ACEA52}"/>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١٣</a:t>
            </a:r>
          </a:p>
        </p:txBody>
      </p:sp>
      <p:sp>
        <p:nvSpPr>
          <p:cNvPr id="9" name="Rectangle 8">
            <a:extLst xmlns:a="http://schemas.openxmlformats.org/drawingml/2006/main">
              <a:ext uri="{FF2B5EF4-FFF2-40B4-BE49-F238E27FC236}">
                <a16:creationId xmlns:a16="http://schemas.microsoft.com/office/drawing/2014/main" id="{FF5C7DF6-F5ED-4661-813D-27072488CF72}"/>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11DCC79-76C6-4D90-97FE-41535105BBDD}"/>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تنبيهات الحساسية</a:t>
            </a:r>
          </a:p>
        </p:txBody>
      </p:sp>
      <p:sp>
        <p:nvSpPr>
          <p:cNvPr id="11" name="TextBox 10">
            <a:extLst xmlns:a="http://schemas.openxmlformats.org/drawingml/2006/main">
              <a:ext uri="{FF2B5EF4-FFF2-40B4-BE49-F238E27FC236}">
                <a16:creationId xmlns:a16="http://schemas.microsoft.com/office/drawing/2014/main" id="{257645AB-0812-4AF0-8CF5-4C785CF40B0C}"/>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شاشات تنبيه مخصصة للعاملين في المقصف.</a:t>
            </a:r>
          </a:p>
        </p:txBody>
      </p:sp>
      <p:sp>
        <p:nvSpPr>
          <p:cNvPr id="12" name="Rectangle 11">
            <a:extLst xmlns:a="http://schemas.openxmlformats.org/drawingml/2006/main">
              <a:ext uri="{FF2B5EF4-FFF2-40B4-BE49-F238E27FC236}">
                <a16:creationId xmlns:a16="http://schemas.microsoft.com/office/drawing/2014/main" id="{18128694-D527-4E29-BA4D-1CFDC5B56FB5}"/>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E404957B-AAD8-40FE-A194-B9C438575179}"/>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العمليات اليومية</a:t>
            </a:r>
          </a:p>
        </p:txBody>
      </p:sp>
      <p:sp>
        <p:nvSpPr>
          <p:cNvPr id="14" name="TextBox 13">
            <a:extLst xmlns:a="http://schemas.openxmlformats.org/drawingml/2006/main">
              <a:ext uri="{FF2B5EF4-FFF2-40B4-BE49-F238E27FC236}">
                <a16:creationId xmlns:a16="http://schemas.microsoft.com/office/drawing/2014/main" id="{D333037C-03B5-4D6F-A002-DCE05999AF53}"/>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إتاحة نقطة البيع ضمن تجربة الموظف.</a:t>
            </a:r>
          </a:p>
        </p:txBody>
      </p:sp>
      <p:sp>
        <p:nvSpPr>
          <p:cNvPr id="15" name="Rectangle 14">
            <a:extLst xmlns:a="http://schemas.openxmlformats.org/drawingml/2006/main">
              <a:ext uri="{FF2B5EF4-FFF2-40B4-BE49-F238E27FC236}">
                <a16:creationId xmlns:a16="http://schemas.microsoft.com/office/drawing/2014/main" id="{83D26381-6BFC-4BBD-9372-19F57E83C13E}"/>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BA691B6A-1F7E-4EBC-A149-7EE47D0351DD}"/>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ميزانية الأسرة</a:t>
            </a:r>
          </a:p>
        </p:txBody>
      </p:sp>
      <p:sp>
        <p:nvSpPr>
          <p:cNvPr id="17" name="TextBox 16">
            <a:extLst xmlns:a="http://schemas.openxmlformats.org/drawingml/2006/main">
              <a:ext uri="{FF2B5EF4-FFF2-40B4-BE49-F238E27FC236}">
                <a16:creationId xmlns:a16="http://schemas.microsoft.com/office/drawing/2014/main" id="{5B07846F-DD21-4843-9315-36F8E2343A4B}"/>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عرض ميزانية المقصف في تطبيق ولي الأمر.</a:t>
            </a:r>
          </a:p>
        </p:txBody>
      </p:sp>
      <p:sp>
        <p:nvSpPr>
          <p:cNvPr id="18" name="Rectangle 17">
            <a:extLst xmlns:a="http://schemas.openxmlformats.org/drawingml/2006/main">
              <a:ext uri="{FF2B5EF4-FFF2-40B4-BE49-F238E27FC236}">
                <a16:creationId xmlns:a16="http://schemas.microsoft.com/office/drawing/2014/main" id="{3959ED43-4278-4138-9F79-3EA8EC55B416}"/>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8b4d30a0502a486f"/>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7A0E8D1B-28B1-41BF-9AC8-A2E5C2270C72}"/>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تنبيهات المقصف</a:t>
            </a:r>
          </a:p>
        </p:txBody>
      </p:sp>
      <p:sp>
        <p:nvSpPr>
          <p:cNvPr id="21" name="Rectangle 20">
            <a:extLst xmlns:a="http://schemas.openxmlformats.org/drawingml/2006/main">
              <a:ext uri="{FF2B5EF4-FFF2-40B4-BE49-F238E27FC236}">
                <a16:creationId xmlns:a16="http://schemas.microsoft.com/office/drawing/2014/main" id="{F75A959A-DFDB-4CA6-BB6A-B6D14DD9C7E7}"/>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c4f28718541b463f"/>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71B87179-F001-4091-9986-B6C041C016C3}"/>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نقطة البيع</a:t>
            </a:r>
          </a:p>
        </p:txBody>
      </p:sp>
      <p:sp>
        <p:nvSpPr>
          <p:cNvPr id="24" name="Rectangle 23">
            <a:extLst xmlns:a="http://schemas.openxmlformats.org/drawingml/2006/main">
              <a:ext uri="{FF2B5EF4-FFF2-40B4-BE49-F238E27FC236}">
                <a16:creationId xmlns:a16="http://schemas.microsoft.com/office/drawing/2014/main" id="{11771136-6B17-4331-9996-659B987261A4}"/>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979cf757abf2403b"/>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F13A3AF6-91BE-494A-ADB1-6F69CAA4FC20}"/>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ميزانية الأسرة</a:t>
            </a:r>
          </a:p>
        </p:txBody>
      </p:sp>
    </p:spTree>
    <p:extLst>
      <p:ext uri="{BB962C8B-B14F-4D97-AF65-F5344CB8AC3E}">
        <p14:creationId xmlns:p14="http://schemas.microsoft.com/office/powerpoint/2010/main" val="20711652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AD254C7-9A7E-4531-BA1C-57ACD7FCE300}"/>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ED6F143-CD98-4736-AAD1-6F62CB088FF5}"/>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الدعم المدرسي</a:t>
            </a:r>
          </a:p>
        </p:txBody>
      </p:sp>
      <p:sp>
        <p:nvSpPr>
          <p:cNvPr id="4" name="TextBox 3">
            <a:extLst xmlns:a="http://schemas.openxmlformats.org/drawingml/2006/main">
              <a:ext uri="{FF2B5EF4-FFF2-40B4-BE49-F238E27FC236}">
                <a16:creationId xmlns:a16="http://schemas.microsoft.com/office/drawing/2014/main" id="{AE8EE8F7-20DA-4D15-B679-7791A64B0D06}"/>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دعم فرق التنسيق والمتابعة</a:t>
            </a:r>
          </a:p>
        </p:txBody>
      </p:sp>
      <p:sp>
        <p:nvSpPr>
          <p:cNvPr id="5" name="TextBox 4">
            <a:extLst xmlns:a="http://schemas.openxmlformats.org/drawingml/2006/main">
              <a:ext uri="{FF2B5EF4-FFF2-40B4-BE49-F238E27FC236}">
                <a16:creationId xmlns:a16="http://schemas.microsoft.com/office/drawing/2014/main" id="{464FB8E3-E567-4EDB-A78A-CE6F40B83D7D}"/>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توسّع شاشات المرشد والسكرتارية نطاق العمل المدرسي</a:t>
            </a:r>
          </a:p>
        </p:txBody>
      </p:sp>
      <p:sp>
        <p:nvSpPr>
          <p:cNvPr id="6" name="Rectangle 5">
            <a:extLst xmlns:a="http://schemas.openxmlformats.org/drawingml/2006/main">
              <a:ext uri="{FF2B5EF4-FFF2-40B4-BE49-F238E27FC236}">
                <a16:creationId xmlns:a16="http://schemas.microsoft.com/office/drawing/2014/main" id="{37FF48D7-62F3-498F-900C-B3C573441A07}"/>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414B58D-84BF-49D6-98DE-C106F258CA17}"/>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6EDE5B61-56DE-4678-A203-FF32B8E2A8C8}"/>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١٤</a:t>
            </a:r>
          </a:p>
        </p:txBody>
      </p:sp>
      <p:sp>
        <p:nvSpPr>
          <p:cNvPr id="9" name="Rectangle 8">
            <a:extLst xmlns:a="http://schemas.openxmlformats.org/drawingml/2006/main">
              <a:ext uri="{FF2B5EF4-FFF2-40B4-BE49-F238E27FC236}">
                <a16:creationId xmlns:a16="http://schemas.microsoft.com/office/drawing/2014/main" id="{83B82346-4902-4771-BA23-64E8602B4A2D}"/>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D6306BD6-3E98-4E47-BD9E-1CB56AB37B75}"/>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دعم الطلاب</a:t>
            </a:r>
          </a:p>
        </p:txBody>
      </p:sp>
      <p:sp>
        <p:nvSpPr>
          <p:cNvPr id="11" name="TextBox 10">
            <a:extLst xmlns:a="http://schemas.openxmlformats.org/drawingml/2006/main">
              <a:ext uri="{FF2B5EF4-FFF2-40B4-BE49-F238E27FC236}">
                <a16:creationId xmlns:a16="http://schemas.microsoft.com/office/drawing/2014/main" id="{6B97C70D-4FEB-40CD-A875-8E363CF5AB53}"/>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سجلات المرشد وتقاريره لمتابعة الرعاية المستمرة.</a:t>
            </a:r>
          </a:p>
        </p:txBody>
      </p:sp>
      <p:sp>
        <p:nvSpPr>
          <p:cNvPr id="12" name="Rectangle 11">
            <a:extLst xmlns:a="http://schemas.openxmlformats.org/drawingml/2006/main">
              <a:ext uri="{FF2B5EF4-FFF2-40B4-BE49-F238E27FC236}">
                <a16:creationId xmlns:a16="http://schemas.microsoft.com/office/drawing/2014/main" id="{01AAEA25-3237-495A-A6F4-563EC345FCB0}"/>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A7A6B3A8-7A1D-4937-B9F3-CAC9F7DF9994}"/>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تنسيق المكتب</a:t>
            </a:r>
          </a:p>
        </p:txBody>
      </p:sp>
      <p:sp>
        <p:nvSpPr>
          <p:cNvPr id="14" name="TextBox 13">
            <a:extLst xmlns:a="http://schemas.openxmlformats.org/drawingml/2006/main">
              <a:ext uri="{FF2B5EF4-FFF2-40B4-BE49-F238E27FC236}">
                <a16:creationId xmlns:a16="http://schemas.microsoft.com/office/drawing/2014/main" id="{58615605-10FB-4554-884F-6FD30E95A6F5}"/>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واجهات للسكرتارية تشمل الطلاب والرسائل واستيراد البيانات.</a:t>
            </a:r>
          </a:p>
        </p:txBody>
      </p:sp>
      <p:sp>
        <p:nvSpPr>
          <p:cNvPr id="15" name="Rectangle 14">
            <a:extLst xmlns:a="http://schemas.openxmlformats.org/drawingml/2006/main">
              <a:ext uri="{FF2B5EF4-FFF2-40B4-BE49-F238E27FC236}">
                <a16:creationId xmlns:a16="http://schemas.microsoft.com/office/drawing/2014/main" id="{4F7A01AB-C407-41F4-A1B3-ADBDCC56DDDB}"/>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6C819FE4-C985-4F8B-958D-6FEFADF9833C}"/>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الفرز والمتابعة</a:t>
            </a:r>
          </a:p>
        </p:txBody>
      </p:sp>
      <p:sp>
        <p:nvSpPr>
          <p:cNvPr id="17" name="TextBox 16">
            <a:extLst xmlns:a="http://schemas.openxmlformats.org/drawingml/2006/main">
              <a:ext uri="{FF2B5EF4-FFF2-40B4-BE49-F238E27FC236}">
                <a16:creationId xmlns:a16="http://schemas.microsoft.com/office/drawing/2014/main" id="{4CBEC98B-4E0F-441E-B31C-4F710BAC2F59}"/>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قوائم انتظار توضح المهام التي تحتاج إلى متابعة.</a:t>
            </a:r>
          </a:p>
        </p:txBody>
      </p:sp>
      <p:sp>
        <p:nvSpPr>
          <p:cNvPr id="18" name="Rectangle 17">
            <a:extLst xmlns:a="http://schemas.openxmlformats.org/drawingml/2006/main">
              <a:ext uri="{FF2B5EF4-FFF2-40B4-BE49-F238E27FC236}">
                <a16:creationId xmlns:a16="http://schemas.microsoft.com/office/drawing/2014/main" id="{D9F8B94D-702C-4713-A17C-9FE80CE98386}"/>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2c6c3b5a90ac4d64"/>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748112A5-9E4E-4939-9B25-D0AB349A3DD5}"/>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لوحة المرشد</a:t>
            </a:r>
          </a:p>
        </p:txBody>
      </p:sp>
      <p:sp>
        <p:nvSpPr>
          <p:cNvPr id="21" name="Rectangle 20">
            <a:extLst xmlns:a="http://schemas.openxmlformats.org/drawingml/2006/main">
              <a:ext uri="{FF2B5EF4-FFF2-40B4-BE49-F238E27FC236}">
                <a16:creationId xmlns:a16="http://schemas.microsoft.com/office/drawing/2014/main" id="{CCEB754B-B0A2-4D20-83AA-7EDCD231D80A}"/>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b707c80bf7484812"/>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B16D6442-684E-420F-BC7D-CDF18210B94B}"/>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رسائل المكتب</a:t>
            </a:r>
          </a:p>
        </p:txBody>
      </p:sp>
      <p:sp>
        <p:nvSpPr>
          <p:cNvPr id="24" name="Rectangle 23">
            <a:extLst xmlns:a="http://schemas.openxmlformats.org/drawingml/2006/main">
              <a:ext uri="{FF2B5EF4-FFF2-40B4-BE49-F238E27FC236}">
                <a16:creationId xmlns:a16="http://schemas.microsoft.com/office/drawing/2014/main" id="{9C792A1E-58F0-4014-828E-833ECC8993AA}"/>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38a98bdcb2174889"/>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483C1BA4-6A4A-4587-89E3-307DA4AF7733}"/>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طلبات المساعد الآلي</a:t>
            </a:r>
          </a:p>
        </p:txBody>
      </p:sp>
    </p:spTree>
    <p:extLst>
      <p:ext uri="{BB962C8B-B14F-4D97-AF65-F5344CB8AC3E}">
        <p14:creationId xmlns:p14="http://schemas.microsoft.com/office/powerpoint/2010/main" val="1961958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05D52A6-072D-40E7-87CA-75C328DF5701}"/>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028EA6D-7BAA-4FA9-8007-B09E30436B88}"/>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الحوكمة</a:t>
            </a:r>
          </a:p>
        </p:txBody>
      </p:sp>
      <p:sp>
        <p:nvSpPr>
          <p:cNvPr id="4" name="TextBox 3">
            <a:extLst xmlns:a="http://schemas.openxmlformats.org/drawingml/2006/main">
              <a:ext uri="{FF2B5EF4-FFF2-40B4-BE49-F238E27FC236}">
                <a16:creationId xmlns:a16="http://schemas.microsoft.com/office/drawing/2014/main" id="{BDEF3CC0-1A49-4E3E-BF3A-CE46C6DBF825}"/>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وضوح الصلاحيات والجاهزية</a:t>
            </a:r>
          </a:p>
        </p:txBody>
      </p:sp>
      <p:sp>
        <p:nvSpPr>
          <p:cNvPr id="5" name="TextBox 4">
            <a:extLst xmlns:a="http://schemas.openxmlformats.org/drawingml/2006/main">
              <a:ext uri="{FF2B5EF4-FFF2-40B4-BE49-F238E27FC236}">
                <a16:creationId xmlns:a16="http://schemas.microsoft.com/office/drawing/2014/main" id="{708CADA6-901D-46F5-9230-5D5BE3C9BDAC}"/>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تدعم واجهات الصلاحيات والتدقيق والجاهزية وضوح المسؤوليات</a:t>
            </a:r>
          </a:p>
        </p:txBody>
      </p:sp>
      <p:sp>
        <p:nvSpPr>
          <p:cNvPr id="6" name="Rectangle 5">
            <a:extLst xmlns:a="http://schemas.openxmlformats.org/drawingml/2006/main">
              <a:ext uri="{FF2B5EF4-FFF2-40B4-BE49-F238E27FC236}">
                <a16:creationId xmlns:a16="http://schemas.microsoft.com/office/drawing/2014/main" id="{29E3F685-1A05-4CED-8F8E-76C04BC7CB3B}"/>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C9425C6-ECDA-45D7-9262-0B68AD876A96}"/>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2FA77198-D976-4F1F-93BE-ACA0A0E2B4A1}"/>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١٥</a:t>
            </a:r>
          </a:p>
        </p:txBody>
      </p:sp>
      <p:sp>
        <p:nvSpPr>
          <p:cNvPr id="9" name="Rectangle 8">
            <a:extLst xmlns:a="http://schemas.openxmlformats.org/drawingml/2006/main">
              <a:ext uri="{FF2B5EF4-FFF2-40B4-BE49-F238E27FC236}">
                <a16:creationId xmlns:a16="http://schemas.microsoft.com/office/drawing/2014/main" id="{CC688801-C27C-4928-8BD9-692814BAC774}"/>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90FF3CA1-C955-49FF-8948-507E9CF684A7}"/>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صلاحيات الأدوار</a:t>
            </a:r>
          </a:p>
        </p:txBody>
      </p:sp>
      <p:sp>
        <p:nvSpPr>
          <p:cNvPr id="11" name="TextBox 10">
            <a:extLst xmlns:a="http://schemas.openxmlformats.org/drawingml/2006/main">
              <a:ext uri="{FF2B5EF4-FFF2-40B4-BE49-F238E27FC236}">
                <a16:creationId xmlns:a16="http://schemas.microsoft.com/office/drawing/2014/main" id="{48A3A5FD-3309-4340-84FA-550FAB144E43}"/>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عرض نموذج الوصول في مصفوفة مخصصة.</a:t>
            </a:r>
          </a:p>
        </p:txBody>
      </p:sp>
      <p:sp>
        <p:nvSpPr>
          <p:cNvPr id="12" name="Rectangle 11">
            <a:extLst xmlns:a="http://schemas.openxmlformats.org/drawingml/2006/main">
              <a:ext uri="{FF2B5EF4-FFF2-40B4-BE49-F238E27FC236}">
                <a16:creationId xmlns:a16="http://schemas.microsoft.com/office/drawing/2014/main" id="{150EF448-B308-44EC-9D3C-B545E8487068}"/>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ABC61A4-D05C-4A22-B06A-A09888FA0B85}"/>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سجل التدقيق</a:t>
            </a:r>
          </a:p>
        </p:txBody>
      </p:sp>
      <p:sp>
        <p:nvSpPr>
          <p:cNvPr id="14" name="TextBox 13">
            <a:extLst xmlns:a="http://schemas.openxmlformats.org/drawingml/2006/main">
              <a:ext uri="{FF2B5EF4-FFF2-40B4-BE49-F238E27FC236}">
                <a16:creationId xmlns:a16="http://schemas.microsoft.com/office/drawing/2014/main" id="{0F6F96BA-7F4F-409B-BAE9-562ACF3516D2}"/>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متابعة أنشطة النظام المسجلة.</a:t>
            </a:r>
          </a:p>
        </p:txBody>
      </p:sp>
      <p:sp>
        <p:nvSpPr>
          <p:cNvPr id="15" name="Rectangle 14">
            <a:extLst xmlns:a="http://schemas.openxmlformats.org/drawingml/2006/main">
              <a:ext uri="{FF2B5EF4-FFF2-40B4-BE49-F238E27FC236}">
                <a16:creationId xmlns:a16="http://schemas.microsoft.com/office/drawing/2014/main" id="{94DDC5EF-CBFC-4F80-BDCC-BA6D94DAF922}"/>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0AC7BAC-9089-4B26-975B-AC08E76078A4}"/>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جاهزية العيادة</a:t>
            </a:r>
          </a:p>
        </p:txBody>
      </p:sp>
      <p:sp>
        <p:nvSpPr>
          <p:cNvPr id="17" name="TextBox 16">
            <a:extLst xmlns:a="http://schemas.openxmlformats.org/drawingml/2006/main">
              <a:ext uri="{FF2B5EF4-FFF2-40B4-BE49-F238E27FC236}">
                <a16:creationId xmlns:a16="http://schemas.microsoft.com/office/drawing/2014/main" id="{36EBF64F-AF92-4850-BCC8-20A5A353421A}"/>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متابعة جاهزية العيادة ومعداتها ضمن العمليات المدرسية.</a:t>
            </a:r>
          </a:p>
        </p:txBody>
      </p:sp>
      <p:sp>
        <p:nvSpPr>
          <p:cNvPr id="18" name="Rectangle 17">
            <a:extLst xmlns:a="http://schemas.openxmlformats.org/drawingml/2006/main">
              <a:ext uri="{FF2B5EF4-FFF2-40B4-BE49-F238E27FC236}">
                <a16:creationId xmlns:a16="http://schemas.microsoft.com/office/drawing/2014/main" id="{FB873464-E6A6-4624-A42C-C329E160F297}"/>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193255686908464b"/>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26AC7A88-8D3C-4EFD-8765-D148028DC45D}"/>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الصلاحيات</a:t>
            </a:r>
          </a:p>
        </p:txBody>
      </p:sp>
      <p:sp>
        <p:nvSpPr>
          <p:cNvPr id="21" name="Rectangle 20">
            <a:extLst xmlns:a="http://schemas.openxmlformats.org/drawingml/2006/main">
              <a:ext uri="{FF2B5EF4-FFF2-40B4-BE49-F238E27FC236}">
                <a16:creationId xmlns:a16="http://schemas.microsoft.com/office/drawing/2014/main" id="{10C0EC19-BFD8-4EB8-8FB1-1D5B53D6732A}"/>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e0453ce5145344af"/>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20E81FD7-8DFB-43E9-B871-EE90B9923B31}"/>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سجل التدقيق</a:t>
            </a:r>
          </a:p>
        </p:txBody>
      </p:sp>
      <p:sp>
        <p:nvSpPr>
          <p:cNvPr id="24" name="Rectangle 23">
            <a:extLst xmlns:a="http://schemas.openxmlformats.org/drawingml/2006/main">
              <a:ext uri="{FF2B5EF4-FFF2-40B4-BE49-F238E27FC236}">
                <a16:creationId xmlns:a16="http://schemas.microsoft.com/office/drawing/2014/main" id="{E20CE333-FFBD-417C-92E3-EC565AA3A7BF}"/>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b501b1eeb30749d6"/>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C34AC299-3B53-4375-AEAE-87C6EF11CCEB}"/>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جاهزية العيادة</a:t>
            </a:r>
          </a:p>
        </p:txBody>
      </p:sp>
    </p:spTree>
    <p:extLst>
      <p:ext uri="{BB962C8B-B14F-4D97-AF65-F5344CB8AC3E}">
        <p14:creationId xmlns:p14="http://schemas.microsoft.com/office/powerpoint/2010/main" val="5851800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1745777-25F2-4E3C-9B61-FB0C51036463}"/>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5257C96-49D4-4896-8708-B040FBF4B3F7}"/>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التصميم للسوق المحلي</a:t>
            </a:r>
          </a:p>
        </p:txBody>
      </p:sp>
      <p:sp>
        <p:nvSpPr>
          <p:cNvPr id="4" name="TextBox 3">
            <a:extLst xmlns:a="http://schemas.openxmlformats.org/drawingml/2006/main">
              <a:ext uri="{FF2B5EF4-FFF2-40B4-BE49-F238E27FC236}">
                <a16:creationId xmlns:a16="http://schemas.microsoft.com/office/drawing/2014/main" id="{603BA3D1-5492-43F4-8711-E6963307775E}"/>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تصميم يراعي البيئة المدرسية</a:t>
            </a:r>
          </a:p>
        </p:txBody>
      </p:sp>
      <p:sp>
        <p:nvSpPr>
          <p:cNvPr id="5" name="TextBox 4">
            <a:extLst xmlns:a="http://schemas.openxmlformats.org/drawingml/2006/main">
              <a:ext uri="{FF2B5EF4-FFF2-40B4-BE49-F238E27FC236}">
                <a16:creationId xmlns:a16="http://schemas.microsoft.com/office/drawing/2014/main" id="{0A18B838-1D64-478D-BD73-611898B94945}"/>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يدعم التطبيق العربية والإنجليزية وحالات تشغيل تناسب سياق المدرسة</a:t>
            </a:r>
          </a:p>
        </p:txBody>
      </p:sp>
      <p:sp>
        <p:nvSpPr>
          <p:cNvPr id="6" name="Rectangle 5">
            <a:extLst xmlns:a="http://schemas.openxmlformats.org/drawingml/2006/main">
              <a:ext uri="{FF2B5EF4-FFF2-40B4-BE49-F238E27FC236}">
                <a16:creationId xmlns:a16="http://schemas.microsoft.com/office/drawing/2014/main" id="{BC9334D3-194B-47DB-B054-6D71AB10EF17}"/>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59E5143-76F9-4B34-B7DD-6EDC60D5CF0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81660305-FEE6-44BE-AC8E-49BD233D1DBB}"/>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١٦</a:t>
            </a:r>
          </a:p>
        </p:txBody>
      </p:sp>
      <p:sp>
        <p:nvSpPr>
          <p:cNvPr id="9" name="Rectangle 8">
            <a:extLst xmlns:a="http://schemas.openxmlformats.org/drawingml/2006/main">
              <a:ext uri="{FF2B5EF4-FFF2-40B4-BE49-F238E27FC236}">
                <a16:creationId xmlns:a16="http://schemas.microsoft.com/office/drawing/2014/main" id="{FB0DBC85-A257-4716-B01D-7010329701CF}"/>
              </a:ext>
            </a:extLst>
          </p:cNvPr>
          <p:cNvSpPr>
            <a:spLocks xmlns:a="http://schemas.openxmlformats.org/drawingml/2006/main" noGrp="1"/>
          </p:cNvSpPr>
          <p:nvPr/>
        </p:nvSpPr>
        <p:spPr>
          <a:xfrm xmlns:a="http://schemas.openxmlformats.org/drawingml/2006/main">
            <a:off x="11579047" y="2423160"/>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5F68B776-4271-4462-B7BA-62DCC05A0A11}"/>
              </a:ext>
            </a:extLst>
          </p:cNvPr>
          <p:cNvSpPr>
            <a:spLocks xmlns:a="http://schemas.openxmlformats.org/drawingml/2006/main" noGrp="1"/>
          </p:cNvSpPr>
          <p:nvPr/>
        </p:nvSpPr>
        <p:spPr>
          <a:xfrm xmlns:a="http://schemas.openxmlformats.org/drawingml/2006/main">
            <a:off x="7290511" y="24231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دعم اللغتين</a:t>
            </a:r>
          </a:p>
        </p:txBody>
      </p:sp>
      <p:sp>
        <p:nvSpPr>
          <p:cNvPr id="11" name="TextBox 10">
            <a:extLst xmlns:a="http://schemas.openxmlformats.org/drawingml/2006/main">
              <a:ext uri="{FF2B5EF4-FFF2-40B4-BE49-F238E27FC236}">
                <a16:creationId xmlns:a16="http://schemas.microsoft.com/office/drawing/2014/main" id="{0F6F35B0-999B-4740-9BB6-7A37F0C8F67C}"/>
              </a:ext>
            </a:extLst>
          </p:cNvPr>
          <p:cNvSpPr>
            <a:spLocks xmlns:a="http://schemas.openxmlformats.org/drawingml/2006/main" noGrp="1"/>
          </p:cNvSpPr>
          <p:nvPr/>
        </p:nvSpPr>
        <p:spPr>
          <a:xfrm xmlns:a="http://schemas.openxmlformats.org/drawingml/2006/main">
            <a:off x="7336231" y="2816352"/>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نصوص عربية وإنجليزية وتخطيطات من اليمين إلى اليسار في التطبيق.</a:t>
            </a:r>
          </a:p>
        </p:txBody>
      </p:sp>
      <p:sp>
        <p:nvSpPr>
          <p:cNvPr id="12" name="Rectangle 11">
            <a:extLst xmlns:a="http://schemas.openxmlformats.org/drawingml/2006/main">
              <a:ext uri="{FF2B5EF4-FFF2-40B4-BE49-F238E27FC236}">
                <a16:creationId xmlns:a16="http://schemas.microsoft.com/office/drawing/2014/main" id="{BC20BC25-6123-4178-8169-7B9D2655ED06}"/>
              </a:ext>
            </a:extLst>
          </p:cNvPr>
          <p:cNvSpPr>
            <a:spLocks xmlns:a="http://schemas.openxmlformats.org/drawingml/2006/main" noGrp="1"/>
          </p:cNvSpPr>
          <p:nvPr/>
        </p:nvSpPr>
        <p:spPr>
          <a:xfrm xmlns:a="http://schemas.openxmlformats.org/drawingml/2006/main">
            <a:off x="11579047" y="3474720"/>
            <a:ext cx="82296" cy="502920"/>
          </a:xfrm>
          <a:prstGeom xmlns:a="http://schemas.openxmlformats.org/drawingml/2006/main" prst="rect">
            <a:avLst/>
          </a:prstGeom>
          <a:solidFill xmlns:a="http://schemas.openxmlformats.org/drawingml/2006/main">
            <a:srgbClr val="E5675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5EEC320-CA9F-4D22-AE18-90EEE44D164E}"/>
              </a:ext>
            </a:extLst>
          </p:cNvPr>
          <p:cNvSpPr>
            <a:spLocks xmlns:a="http://schemas.openxmlformats.org/drawingml/2006/main" noGrp="1"/>
          </p:cNvSpPr>
          <p:nvPr/>
        </p:nvSpPr>
        <p:spPr>
          <a:xfrm xmlns:a="http://schemas.openxmlformats.org/drawingml/2006/main">
            <a:off x="7290511" y="347472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تنبيهات المدرسة</a:t>
            </a:r>
          </a:p>
        </p:txBody>
      </p:sp>
      <p:sp>
        <p:nvSpPr>
          <p:cNvPr id="14" name="TextBox 13">
            <a:extLst xmlns:a="http://schemas.openxmlformats.org/drawingml/2006/main">
              <a:ext uri="{FF2B5EF4-FFF2-40B4-BE49-F238E27FC236}">
                <a16:creationId xmlns:a16="http://schemas.microsoft.com/office/drawing/2014/main" id="{F9494AD9-EAF7-4EC1-9A04-C3C8E908E3B3}"/>
              </a:ext>
            </a:extLst>
          </p:cNvPr>
          <p:cNvSpPr>
            <a:spLocks xmlns:a="http://schemas.openxmlformats.org/drawingml/2006/main" noGrp="1"/>
          </p:cNvSpPr>
          <p:nvPr/>
        </p:nvSpPr>
        <p:spPr>
          <a:xfrm xmlns:a="http://schemas.openxmlformats.org/drawingml/2006/main">
            <a:off x="7336231" y="386791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تعرض شاشات الطقس القيود المشتركة على الأنشطة.</a:t>
            </a:r>
          </a:p>
        </p:txBody>
      </p:sp>
      <p:sp>
        <p:nvSpPr>
          <p:cNvPr id="15" name="Rectangle 14">
            <a:extLst xmlns:a="http://schemas.openxmlformats.org/drawingml/2006/main">
              <a:ext uri="{FF2B5EF4-FFF2-40B4-BE49-F238E27FC236}">
                <a16:creationId xmlns:a16="http://schemas.microsoft.com/office/drawing/2014/main" id="{D15BF894-CCEA-4F0E-9E95-B35DB88C6D30}"/>
              </a:ext>
            </a:extLst>
          </p:cNvPr>
          <p:cNvSpPr>
            <a:spLocks xmlns:a="http://schemas.openxmlformats.org/drawingml/2006/main" noGrp="1"/>
          </p:cNvSpPr>
          <p:nvPr/>
        </p:nvSpPr>
        <p:spPr>
          <a:xfrm xmlns:a="http://schemas.openxmlformats.org/drawingml/2006/main">
            <a:off x="11579047" y="4526279"/>
            <a:ext cx="82296" cy="50292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25BC544-6541-4828-9C0B-CEA0E50E2A77}"/>
              </a:ext>
            </a:extLst>
          </p:cNvPr>
          <p:cNvSpPr>
            <a:spLocks xmlns:a="http://schemas.openxmlformats.org/drawingml/2006/main" noGrp="1"/>
          </p:cNvSpPr>
          <p:nvPr/>
        </p:nvSpPr>
        <p:spPr>
          <a:xfrm xmlns:a="http://schemas.openxmlformats.org/drawingml/2006/main">
            <a:off x="7290511" y="4526279"/>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000" b="1">
                <a:solidFill>
                  <a:srgbClr val="142822"/>
                </a:solidFill>
                <a:latin typeface="Arial"/>
                <a:ea typeface="Arial"/>
                <a:cs typeface="Arial"/>
              </a:defRPr>
            </a:pPr>
            <a:r>
              <a:rPr sz="2000" b="1">
                <a:solidFill>
                  <a:srgbClr val="142822"/>
                </a:solidFill>
                <a:latin typeface="Arial"/>
                <a:ea typeface="Arial"/>
                <a:cs typeface="Arial"/>
              </a:rPr>
              <a:t>أوضاع التشغيل</a:t>
            </a:r>
          </a:p>
        </p:txBody>
      </p:sp>
      <p:sp>
        <p:nvSpPr>
          <p:cNvPr id="17" name="TextBox 16">
            <a:extLst xmlns:a="http://schemas.openxmlformats.org/drawingml/2006/main">
              <a:ext uri="{FF2B5EF4-FFF2-40B4-BE49-F238E27FC236}">
                <a16:creationId xmlns:a16="http://schemas.microsoft.com/office/drawing/2014/main" id="{6D961199-DFF9-4C24-B1AA-0547F4A92AFD}"/>
              </a:ext>
            </a:extLst>
          </p:cNvPr>
          <p:cNvSpPr>
            <a:spLocks xmlns:a="http://schemas.openxmlformats.org/drawingml/2006/main" noGrp="1"/>
          </p:cNvSpPr>
          <p:nvPr/>
        </p:nvSpPr>
        <p:spPr>
          <a:xfrm xmlns:a="http://schemas.openxmlformats.org/drawingml/2006/main">
            <a:off x="7336231" y="4919471"/>
            <a:ext cx="40690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تشمل التجربة وضع رمضان وحالة خارج أوقات الدوام.</a:t>
            </a:r>
          </a:p>
        </p:txBody>
      </p:sp>
      <p:sp>
        <p:nvSpPr>
          <p:cNvPr id="18" name="Rectangle 17">
            <a:extLst xmlns:a="http://schemas.openxmlformats.org/drawingml/2006/main">
              <a:ext uri="{FF2B5EF4-FFF2-40B4-BE49-F238E27FC236}">
                <a16:creationId xmlns:a16="http://schemas.microsoft.com/office/drawing/2014/main" id="{11531DC4-A236-4DFB-94D4-C7DA54AD5C9B}"/>
              </a:ext>
            </a:extLst>
          </p:cNvPr>
          <p:cNvSpPr>
            <a:spLocks xmlns:a="http://schemas.openxmlformats.org/drawingml/2006/main" noGrp="1"/>
          </p:cNvSpPr>
          <p:nvPr/>
        </p:nvSpPr>
        <p:spPr>
          <a:xfrm xmlns:a="http://schemas.openxmlformats.org/drawingml/2006/main">
            <a:off x="5275966"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47" name="Picture 18"/>
          <p:cNvPicPr>
            <a:picLocks xmlns:a="http://schemas.openxmlformats.org/drawingml/2006/main" noChangeAspect="1"/>
          </p:cNvPicPr>
          <p:nvPr/>
        </p:nvPicPr>
        <p:blipFill>
          <a:blip xmlns:r="http://schemas.openxmlformats.org/officeDocument/2006/relationships" xmlns:a="http://schemas.openxmlformats.org/drawingml/2006/main" r:embed="Rd2dbfea6a3274720"/>
          <a:stretch xmlns:a="http://schemas.openxmlformats.org/drawingml/2006/main">
            <a:fillRect l="0" t="0" r="0" b="0"/>
          </a:stretch>
        </p:blipFill>
        <p:spPr>
          <a:xfrm xmlns:a="http://schemas.openxmlformats.org/drawingml/2006/main">
            <a:off x="5317113" y="2286000"/>
            <a:ext cx="1708222" cy="3703320"/>
          </a:xfrm>
          <a:prstGeom xmlns:a="http://schemas.openxmlformats.org/drawingml/2006/main" prst="rect">
            <a:avLst/>
          </a:prstGeom>
        </p:spPr>
      </p:pic>
      <p:sp>
        <p:nvSpPr>
          <p:cNvPr id="20" name="TextBox 19">
            <a:extLst xmlns:a="http://schemas.openxmlformats.org/drawingml/2006/main">
              <a:ext uri="{FF2B5EF4-FFF2-40B4-BE49-F238E27FC236}">
                <a16:creationId xmlns:a16="http://schemas.microsoft.com/office/drawing/2014/main" id="{AF702A99-2FAB-42B4-8E5E-8F240439C075}"/>
              </a:ext>
            </a:extLst>
          </p:cNvPr>
          <p:cNvSpPr>
            <a:spLocks xmlns:a="http://schemas.openxmlformats.org/drawingml/2006/main" noGrp="1"/>
          </p:cNvSpPr>
          <p:nvPr/>
        </p:nvSpPr>
        <p:spPr>
          <a:xfrm xmlns:a="http://schemas.openxmlformats.org/drawingml/2006/main">
            <a:off x="5225674"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تنبيه الطقس</a:t>
            </a:r>
          </a:p>
        </p:txBody>
      </p:sp>
      <p:sp>
        <p:nvSpPr>
          <p:cNvPr id="21" name="Rectangle 20">
            <a:extLst xmlns:a="http://schemas.openxmlformats.org/drawingml/2006/main">
              <a:ext uri="{FF2B5EF4-FFF2-40B4-BE49-F238E27FC236}">
                <a16:creationId xmlns:a16="http://schemas.microsoft.com/office/drawing/2014/main" id="{C7478C15-BB8F-4594-8158-023FAF2BB3B3}"/>
              </a:ext>
            </a:extLst>
          </p:cNvPr>
          <p:cNvSpPr>
            <a:spLocks xmlns:a="http://schemas.openxmlformats.org/drawingml/2006/main" noGrp="1"/>
          </p:cNvSpPr>
          <p:nvPr/>
        </p:nvSpPr>
        <p:spPr>
          <a:xfrm xmlns:a="http://schemas.openxmlformats.org/drawingml/2006/main">
            <a:off x="3099694"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0" name="Picture 21"/>
          <p:cNvPicPr>
            <a:picLocks xmlns:a="http://schemas.openxmlformats.org/drawingml/2006/main" noChangeAspect="1"/>
          </p:cNvPicPr>
          <p:nvPr/>
        </p:nvPicPr>
        <p:blipFill>
          <a:blip xmlns:r="http://schemas.openxmlformats.org/officeDocument/2006/relationships" xmlns:a="http://schemas.openxmlformats.org/drawingml/2006/main" r:embed="Rbff9c2c472c145c5"/>
          <a:stretch xmlns:a="http://schemas.openxmlformats.org/drawingml/2006/main">
            <a:fillRect l="0" t="0" r="0" b="0"/>
          </a:stretch>
        </p:blipFill>
        <p:spPr>
          <a:xfrm xmlns:a="http://schemas.openxmlformats.org/drawingml/2006/main">
            <a:off x="3140841" y="2286000"/>
            <a:ext cx="1708222" cy="3703320"/>
          </a:xfrm>
          <a:prstGeom xmlns:a="http://schemas.openxmlformats.org/drawingml/2006/main" prst="rect">
            <a:avLst/>
          </a:prstGeom>
        </p:spPr>
      </p:pic>
      <p:sp>
        <p:nvSpPr>
          <p:cNvPr id="23" name="TextBox 22">
            <a:extLst xmlns:a="http://schemas.openxmlformats.org/drawingml/2006/main">
              <a:ext uri="{FF2B5EF4-FFF2-40B4-BE49-F238E27FC236}">
                <a16:creationId xmlns:a16="http://schemas.microsoft.com/office/drawing/2014/main" id="{CA70E951-A39A-48D8-8467-5AFD0FAB958A}"/>
              </a:ext>
            </a:extLst>
          </p:cNvPr>
          <p:cNvSpPr>
            <a:spLocks xmlns:a="http://schemas.openxmlformats.org/drawingml/2006/main" noGrp="1"/>
          </p:cNvSpPr>
          <p:nvPr/>
        </p:nvSpPr>
        <p:spPr>
          <a:xfrm xmlns:a="http://schemas.openxmlformats.org/drawingml/2006/main">
            <a:off x="3049402"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وضع رمضان</a:t>
            </a:r>
          </a:p>
        </p:txBody>
      </p:sp>
      <p:sp>
        <p:nvSpPr>
          <p:cNvPr id="24" name="Rectangle 23">
            <a:extLst xmlns:a="http://schemas.openxmlformats.org/drawingml/2006/main">
              <a:ext uri="{FF2B5EF4-FFF2-40B4-BE49-F238E27FC236}">
                <a16:creationId xmlns:a16="http://schemas.microsoft.com/office/drawing/2014/main" id="{5A7E52A0-FBF9-4954-BA39-FE2A65396096}"/>
              </a:ext>
            </a:extLst>
          </p:cNvPr>
          <p:cNvSpPr>
            <a:spLocks xmlns:a="http://schemas.openxmlformats.org/drawingml/2006/main" noGrp="1"/>
          </p:cNvSpPr>
          <p:nvPr/>
        </p:nvSpPr>
        <p:spPr>
          <a:xfrm xmlns:a="http://schemas.openxmlformats.org/drawingml/2006/main">
            <a:off x="923422" y="2244852"/>
            <a:ext cx="1790517" cy="37856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53" name="Picture 24"/>
          <p:cNvPicPr>
            <a:picLocks xmlns:a="http://schemas.openxmlformats.org/drawingml/2006/main" noChangeAspect="1"/>
          </p:cNvPicPr>
          <p:nvPr/>
        </p:nvPicPr>
        <p:blipFill>
          <a:blip xmlns:r="http://schemas.openxmlformats.org/officeDocument/2006/relationships" xmlns:a="http://schemas.openxmlformats.org/drawingml/2006/main" r:embed="Re68db8ea218d4b04"/>
          <a:stretch xmlns:a="http://schemas.openxmlformats.org/drawingml/2006/main">
            <a:fillRect l="0" t="0" r="0" b="0"/>
          </a:stretch>
        </p:blipFill>
        <p:spPr>
          <a:xfrm xmlns:a="http://schemas.openxmlformats.org/drawingml/2006/main">
            <a:off x="964569" y="2286000"/>
            <a:ext cx="1708222" cy="3703320"/>
          </a:xfrm>
          <a:prstGeom xmlns:a="http://schemas.openxmlformats.org/drawingml/2006/main" prst="rect">
            <a:avLst/>
          </a:prstGeom>
        </p:spPr>
      </p:pic>
      <p:sp>
        <p:nvSpPr>
          <p:cNvPr id="26" name="TextBox 25">
            <a:extLst xmlns:a="http://schemas.openxmlformats.org/drawingml/2006/main">
              <a:ext uri="{FF2B5EF4-FFF2-40B4-BE49-F238E27FC236}">
                <a16:creationId xmlns:a16="http://schemas.microsoft.com/office/drawing/2014/main" id="{6042C0E6-6241-4E3C-87AD-EE55F585B55E}"/>
              </a:ext>
            </a:extLst>
          </p:cNvPr>
          <p:cNvSpPr>
            <a:spLocks xmlns:a="http://schemas.openxmlformats.org/drawingml/2006/main" noGrp="1"/>
          </p:cNvSpPr>
          <p:nvPr/>
        </p:nvSpPr>
        <p:spPr>
          <a:xfrm xmlns:a="http://schemas.openxmlformats.org/drawingml/2006/main">
            <a:off x="873130" y="6108192"/>
            <a:ext cx="189110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5B7069"/>
                </a:solidFill>
                <a:latin typeface="Arial"/>
                <a:ea typeface="Arial"/>
                <a:cs typeface="Arial"/>
              </a:defRPr>
            </a:pPr>
            <a:r>
              <a:rPr sz="1100" b="1">
                <a:solidFill>
                  <a:srgbClr val="5B7069"/>
                </a:solidFill>
                <a:latin typeface="Arial"/>
                <a:ea typeface="Arial"/>
                <a:cs typeface="Arial"/>
              </a:rPr>
              <a:t>خارج أوقات الدوام</a:t>
            </a:r>
          </a:p>
        </p:txBody>
      </p:sp>
    </p:spTree>
    <p:extLst>
      <p:ext uri="{BB962C8B-B14F-4D97-AF65-F5344CB8AC3E}">
        <p14:creationId xmlns:p14="http://schemas.microsoft.com/office/powerpoint/2010/main" val="117294089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88B90D4-18D1-4C4E-B844-FA9B3F736E66}"/>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9E3E5D7-318E-4922-9E8A-C36C688AF5C3}"/>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فرضية النموذج التجاري</a:t>
            </a:r>
          </a:p>
        </p:txBody>
      </p:sp>
      <p:sp>
        <p:nvSpPr>
          <p:cNvPr id="4" name="TextBox 3">
            <a:extLst xmlns:a="http://schemas.openxmlformats.org/drawingml/2006/main">
              <a:ext uri="{FF2B5EF4-FFF2-40B4-BE49-F238E27FC236}">
                <a16:creationId xmlns:a16="http://schemas.microsoft.com/office/drawing/2014/main" id="{E6409335-04B5-4573-975A-E28C2254DAF8}"/>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اشتراك على مستوى المدرسة</a:t>
            </a:r>
          </a:p>
        </p:txBody>
      </p:sp>
      <p:sp>
        <p:nvSpPr>
          <p:cNvPr id="5" name="TextBox 4">
            <a:extLst xmlns:a="http://schemas.openxmlformats.org/drawingml/2006/main">
              <a:ext uri="{FF2B5EF4-FFF2-40B4-BE49-F238E27FC236}">
                <a16:creationId xmlns:a16="http://schemas.microsoft.com/office/drawing/2014/main" id="{F6804340-0105-4116-8478-7A0AECF68E9B}"/>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نموذج مقترح للتحقق في التجارب، دون أسعار نهائية معتمدة</a:t>
            </a:r>
          </a:p>
        </p:txBody>
      </p:sp>
      <p:sp>
        <p:nvSpPr>
          <p:cNvPr id="6" name="Rectangle 5">
            <a:extLst xmlns:a="http://schemas.openxmlformats.org/drawingml/2006/main">
              <a:ext uri="{FF2B5EF4-FFF2-40B4-BE49-F238E27FC236}">
                <a16:creationId xmlns:a16="http://schemas.microsoft.com/office/drawing/2014/main" id="{EAA8546A-1B2D-41A6-BBFE-28DDD62D9A44}"/>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B961996B-9E06-4BCF-9158-7D41112F6DB9}"/>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42A5FFCB-084D-4A0D-9D0F-CA51BDCDB920}"/>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١٧</a:t>
            </a:r>
          </a:p>
        </p:txBody>
      </p:sp>
      <p:sp>
        <p:nvSpPr>
          <p:cNvPr id="9" name="TextBox 8">
            <a:extLst xmlns:a="http://schemas.openxmlformats.org/drawingml/2006/main">
              <a:ext uri="{FF2B5EF4-FFF2-40B4-BE49-F238E27FC236}">
                <a16:creationId xmlns:a16="http://schemas.microsoft.com/office/drawing/2014/main" id="{94EA5287-C324-4CCE-BC8D-32878657C0B0}"/>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1D0EEF0E-0F9B-4500-8B43-75016058E881}"/>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ترخيص المدرسة</a:t>
            </a:r>
          </a:p>
        </p:txBody>
      </p:sp>
      <p:sp>
        <p:nvSpPr>
          <p:cNvPr id="11" name="TextBox 10">
            <a:extLst xmlns:a="http://schemas.openxmlformats.org/drawingml/2006/main">
              <a:ext uri="{FF2B5EF4-FFF2-40B4-BE49-F238E27FC236}">
                <a16:creationId xmlns:a16="http://schemas.microsoft.com/office/drawing/2014/main" id="{7A071337-6E11-4668-ACAD-30ED36883DD0}"/>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اشتراك سنوي حسب حجم المدرسة أو عدد الطلاب. تختبر التجارب استعداد المدارس للدفع.</a:t>
            </a:r>
          </a:p>
        </p:txBody>
      </p:sp>
      <p:sp>
        <p:nvSpPr>
          <p:cNvPr id="12" name="TextBox 11">
            <a:extLst xmlns:a="http://schemas.openxmlformats.org/drawingml/2006/main">
              <a:ext uri="{FF2B5EF4-FFF2-40B4-BE49-F238E27FC236}">
                <a16:creationId xmlns:a16="http://schemas.microsoft.com/office/drawing/2014/main" id="{3903A1C0-B6C7-45F0-B6D7-9A288F1A0702}"/>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01CDD114-7156-4F21-914A-0C5E825766D5}"/>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التنفيذ</a:t>
            </a:r>
          </a:p>
        </p:txBody>
      </p:sp>
      <p:sp>
        <p:nvSpPr>
          <p:cNvPr id="14" name="TextBox 13">
            <a:extLst xmlns:a="http://schemas.openxmlformats.org/drawingml/2006/main">
              <a:ext uri="{FF2B5EF4-FFF2-40B4-BE49-F238E27FC236}">
                <a16:creationId xmlns:a16="http://schemas.microsoft.com/office/drawing/2014/main" id="{1670F1EB-311A-4EF3-96A2-3602D00AF3CB}"/>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خدمات الإعداد والتدريب ودعم الإطلاق، مع تحديد نطاق التكاملات بصورة مستقلة.</a:t>
            </a:r>
          </a:p>
        </p:txBody>
      </p:sp>
      <p:sp>
        <p:nvSpPr>
          <p:cNvPr id="15" name="TextBox 14">
            <a:extLst xmlns:a="http://schemas.openxmlformats.org/drawingml/2006/main">
              <a:ext uri="{FF2B5EF4-FFF2-40B4-BE49-F238E27FC236}">
                <a16:creationId xmlns:a16="http://schemas.microsoft.com/office/drawing/2014/main" id="{B80D6A39-6CEF-42AE-8AEF-5A61FA35904E}"/>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0D9D6094-5B06-4A5C-9396-D3D4F20D41AC}"/>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1">
                <a:solidFill>
                  <a:srgbClr val="142822"/>
                </a:solidFill>
                <a:latin typeface="Arial"/>
                <a:ea typeface="Arial"/>
                <a:cs typeface="Arial"/>
              </a:defRPr>
            </a:pPr>
            <a:r>
              <a:rPr sz="2400" b="1">
                <a:solidFill>
                  <a:srgbClr val="142822"/>
                </a:solidFill>
                <a:latin typeface="Arial"/>
                <a:ea typeface="Arial"/>
                <a:cs typeface="Arial"/>
              </a:rPr>
              <a:t>التوسع ضمن المجموعة</a:t>
            </a:r>
          </a:p>
        </p:txBody>
      </p:sp>
      <p:sp>
        <p:nvSpPr>
          <p:cNvPr id="17" name="TextBox 16">
            <a:extLst xmlns:a="http://schemas.openxmlformats.org/drawingml/2006/main">
              <a:ext uri="{FF2B5EF4-FFF2-40B4-BE49-F238E27FC236}">
                <a16:creationId xmlns:a16="http://schemas.microsoft.com/office/drawing/2014/main" id="{3044BACC-8BBF-4EAD-968E-1CBB122F16E5}"/>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التوسع من مدرسة إلى مجموعة مدارس بعد إثبات الاستخدام والقيمة التشغيلية.</a:t>
            </a:r>
          </a:p>
        </p:txBody>
      </p:sp>
    </p:spTree>
    <p:extLst>
      <p:ext uri="{BB962C8B-B14F-4D97-AF65-F5344CB8AC3E}">
        <p14:creationId xmlns:p14="http://schemas.microsoft.com/office/powerpoint/2010/main" val="17701306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6324259-21E0-48E8-B513-0C4618B9DEE5}"/>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8E70440-F509-4988-9885-CD49A54382B3}"/>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مقترح التجربة</a:t>
            </a:r>
          </a:p>
        </p:txBody>
      </p:sp>
      <p:sp>
        <p:nvSpPr>
          <p:cNvPr id="4" name="TextBox 3">
            <a:extLst xmlns:a="http://schemas.openxmlformats.org/drawingml/2006/main">
              <a:ext uri="{FF2B5EF4-FFF2-40B4-BE49-F238E27FC236}">
                <a16:creationId xmlns:a16="http://schemas.microsoft.com/office/drawing/2014/main" id="{DDB78FAE-4FAE-4E6F-AE2B-C4F261BAC1B3}"/>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تجربة التشغيل قبل التوسع</a:t>
            </a:r>
          </a:p>
        </p:txBody>
      </p:sp>
      <p:sp>
        <p:nvSpPr>
          <p:cNvPr id="5" name="TextBox 4">
            <a:extLst xmlns:a="http://schemas.openxmlformats.org/drawingml/2006/main">
              <a:ext uri="{FF2B5EF4-FFF2-40B4-BE49-F238E27FC236}">
                <a16:creationId xmlns:a16="http://schemas.microsoft.com/office/drawing/2014/main" id="{4CAEAA4C-43E0-4BF7-9EA4-183F088A30A2}"/>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تجربة مقترحة لمدة ثمانية أسابيع بمقاييس ومسؤوليات متفق عليها</a:t>
            </a:r>
          </a:p>
        </p:txBody>
      </p:sp>
      <p:sp>
        <p:nvSpPr>
          <p:cNvPr id="6" name="Rectangle 5">
            <a:extLst xmlns:a="http://schemas.openxmlformats.org/drawingml/2006/main">
              <a:ext uri="{FF2B5EF4-FFF2-40B4-BE49-F238E27FC236}">
                <a16:creationId xmlns:a16="http://schemas.microsoft.com/office/drawing/2014/main" id="{DA70A2B2-5A82-4086-A121-954522CEA9F6}"/>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02795A6-C5B2-44B2-9DCE-F55707B1F108}"/>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F1C26EA4-6816-41CC-9820-61D05571CA8C}"/>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١٨</a:t>
            </a:r>
          </a:p>
        </p:txBody>
      </p:sp>
      <p:sp>
        <p:nvSpPr>
          <p:cNvPr id="9" name="TextBox 8">
            <a:extLst xmlns:a="http://schemas.openxmlformats.org/drawingml/2006/main">
              <a:ext uri="{FF2B5EF4-FFF2-40B4-BE49-F238E27FC236}">
                <a16:creationId xmlns:a16="http://schemas.microsoft.com/office/drawing/2014/main" id="{4CB688AB-6110-48F1-810C-566B9032AE4D}"/>
              </a:ext>
            </a:extLst>
          </p:cNvPr>
          <p:cNvSpPr>
            <a:spLocks xmlns:a="http://schemas.openxmlformats.org/drawingml/2006/main" noGrp="1"/>
          </p:cNvSpPr>
          <p:nvPr/>
        </p:nvSpPr>
        <p:spPr>
          <a:xfrm xmlns:a="http://schemas.openxmlformats.org/drawingml/2006/main">
            <a:off x="833597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٠١</a:t>
            </a:r>
          </a:p>
        </p:txBody>
      </p:sp>
      <p:sp>
        <p:nvSpPr>
          <p:cNvPr id="10" name="TextBox 9">
            <a:extLst xmlns:a="http://schemas.openxmlformats.org/drawingml/2006/main">
              <a:ext uri="{FF2B5EF4-FFF2-40B4-BE49-F238E27FC236}">
                <a16:creationId xmlns:a16="http://schemas.microsoft.com/office/drawing/2014/main" id="{536E710C-677E-40EC-B475-EC458B696382}"/>
              </a:ext>
            </a:extLst>
          </p:cNvPr>
          <p:cNvSpPr>
            <a:spLocks xmlns:a="http://schemas.openxmlformats.org/drawingml/2006/main" noGrp="1"/>
          </p:cNvSpPr>
          <p:nvPr/>
        </p:nvSpPr>
        <p:spPr>
          <a:xfrm xmlns:a="http://schemas.openxmlformats.org/drawingml/2006/main">
            <a:off x="833597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0"/>
              </a:spcAft>
              <a:defRPr sz="2400" b="1">
                <a:solidFill>
                  <a:srgbClr val="142822"/>
                </a:solidFill>
                <a:latin typeface="Arial"/>
                <a:ea typeface="Arial"/>
                <a:cs typeface="Arial"/>
              </a:defRPr>
            </a:pPr>
            <a:r>
              <a:rPr sz="2400" b="1">
                <a:solidFill>
                  <a:srgbClr val="142822"/>
                </a:solidFill>
                <a:latin typeface="Arial"/>
                <a:ea typeface="Arial"/>
                <a:cs typeface="Arial"/>
              </a:rPr>
              <a:t>الأسبوعان ١ و٢</a:t>
            </a:r>
          </a:p>
          <a:p xmlns:a="http://schemas.openxmlformats.org/drawingml/2006/main">
            <a:pPr algn="r">
              <a:spcAft>
                <a:spcPts val="0"/>
              </a:spcAft>
              <a:defRPr sz="2400" b="1">
                <a:solidFill>
                  <a:srgbClr val="142822"/>
                </a:solidFill>
                <a:latin typeface="Arial"/>
                <a:ea typeface="Arial"/>
                <a:cs typeface="Arial"/>
              </a:defRPr>
            </a:pPr>
            <a:r>
              <a:rPr sz="2400" b="1">
                <a:solidFill>
                  <a:srgbClr val="142822"/>
                </a:solidFill>
                <a:latin typeface="Arial"/>
                <a:ea typeface="Arial"/>
                <a:cs typeface="Arial"/>
              </a:rPr>
              <a:t>التهيئة</a:t>
            </a:r>
          </a:p>
        </p:txBody>
      </p:sp>
      <p:sp>
        <p:nvSpPr>
          <p:cNvPr id="11" name="TextBox 10">
            <a:extLst xmlns:a="http://schemas.openxmlformats.org/drawingml/2006/main">
              <a:ext uri="{FF2B5EF4-FFF2-40B4-BE49-F238E27FC236}">
                <a16:creationId xmlns:a16="http://schemas.microsoft.com/office/drawing/2014/main" id="{B7B4C461-D99D-40F6-AE3F-44996A5C6E45}"/>
              </a:ext>
            </a:extLst>
          </p:cNvPr>
          <p:cNvSpPr>
            <a:spLocks xmlns:a="http://schemas.openxmlformats.org/drawingml/2006/main" noGrp="1"/>
          </p:cNvSpPr>
          <p:nvPr/>
        </p:nvSpPr>
        <p:spPr>
          <a:xfrm xmlns:a="http://schemas.openxmlformats.org/drawingml/2006/main">
            <a:off x="842741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توثيق الإجراءات الحالية وتأكيد الأدوار ومراجعة التعامل مع البيانات وتحديد خط أساس.</a:t>
            </a:r>
          </a:p>
        </p:txBody>
      </p:sp>
      <p:sp>
        <p:nvSpPr>
          <p:cNvPr id="12" name="TextBox 11">
            <a:extLst xmlns:a="http://schemas.openxmlformats.org/drawingml/2006/main">
              <a:ext uri="{FF2B5EF4-FFF2-40B4-BE49-F238E27FC236}">
                <a16:creationId xmlns:a16="http://schemas.microsoft.com/office/drawing/2014/main" id="{3177FB7F-BE50-41A9-A764-943608D90638}"/>
              </a:ext>
            </a:extLst>
          </p:cNvPr>
          <p:cNvSpPr>
            <a:spLocks xmlns:a="http://schemas.openxmlformats.org/drawingml/2006/main" noGrp="1"/>
          </p:cNvSpPr>
          <p:nvPr/>
        </p:nvSpPr>
        <p:spPr>
          <a:xfrm xmlns:a="http://schemas.openxmlformats.org/drawingml/2006/main">
            <a:off x="470885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٠٢</a:t>
            </a:r>
          </a:p>
        </p:txBody>
      </p:sp>
      <p:sp>
        <p:nvSpPr>
          <p:cNvPr id="13" name="TextBox 12">
            <a:extLst xmlns:a="http://schemas.openxmlformats.org/drawingml/2006/main">
              <a:ext uri="{FF2B5EF4-FFF2-40B4-BE49-F238E27FC236}">
                <a16:creationId xmlns:a16="http://schemas.microsoft.com/office/drawing/2014/main" id="{F2B0FB11-6D07-4347-9D7B-6E32479EE81D}"/>
              </a:ext>
            </a:extLst>
          </p:cNvPr>
          <p:cNvSpPr>
            <a:spLocks xmlns:a="http://schemas.openxmlformats.org/drawingml/2006/main" noGrp="1"/>
          </p:cNvSpPr>
          <p:nvPr/>
        </p:nvSpPr>
        <p:spPr>
          <a:xfrm xmlns:a="http://schemas.openxmlformats.org/drawingml/2006/main">
            <a:off x="470885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0"/>
              </a:spcAft>
              <a:defRPr sz="2400" b="1">
                <a:solidFill>
                  <a:srgbClr val="142822"/>
                </a:solidFill>
                <a:latin typeface="Arial"/>
                <a:ea typeface="Arial"/>
                <a:cs typeface="Arial"/>
              </a:defRPr>
            </a:pPr>
            <a:r>
              <a:rPr sz="2400" b="1">
                <a:solidFill>
                  <a:srgbClr val="142822"/>
                </a:solidFill>
                <a:latin typeface="Arial"/>
                <a:ea typeface="Arial"/>
                <a:cs typeface="Arial"/>
              </a:rPr>
              <a:t>الأسابيع ٣ إلى ٦</a:t>
            </a:r>
          </a:p>
          <a:p xmlns:a="http://schemas.openxmlformats.org/drawingml/2006/main">
            <a:pPr algn="r">
              <a:spcAft>
                <a:spcPts val="0"/>
              </a:spcAft>
              <a:defRPr sz="2400" b="1">
                <a:solidFill>
                  <a:srgbClr val="142822"/>
                </a:solidFill>
                <a:latin typeface="Arial"/>
                <a:ea typeface="Arial"/>
                <a:cs typeface="Arial"/>
              </a:defRPr>
            </a:pPr>
            <a:r>
              <a:rPr sz="2400" b="1">
                <a:solidFill>
                  <a:srgbClr val="142822"/>
                </a:solidFill>
                <a:latin typeface="Arial"/>
                <a:ea typeface="Arial"/>
                <a:cs typeface="Arial"/>
              </a:rPr>
              <a:t>التشغيل</a:t>
            </a:r>
          </a:p>
        </p:txBody>
      </p:sp>
      <p:sp>
        <p:nvSpPr>
          <p:cNvPr id="14" name="TextBox 13">
            <a:extLst xmlns:a="http://schemas.openxmlformats.org/drawingml/2006/main">
              <a:ext uri="{FF2B5EF4-FFF2-40B4-BE49-F238E27FC236}">
                <a16:creationId xmlns:a16="http://schemas.microsoft.com/office/drawing/2014/main" id="{E3E27DF2-5555-47FB-9121-0D744479DA34}"/>
              </a:ext>
            </a:extLst>
          </p:cNvPr>
          <p:cNvSpPr>
            <a:spLocks xmlns:a="http://schemas.openxmlformats.org/drawingml/2006/main" noGrp="1"/>
          </p:cNvSpPr>
          <p:nvPr/>
        </p:nvSpPr>
        <p:spPr>
          <a:xfrm xmlns:a="http://schemas.openxmlformats.org/drawingml/2006/main">
            <a:off x="480029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تجربة العيادة والموافقات والتواصل مع الأسرة ضمن مجموعة محددة وخطة دعم منتظمة.</a:t>
            </a:r>
          </a:p>
        </p:txBody>
      </p:sp>
      <p:sp>
        <p:nvSpPr>
          <p:cNvPr id="15" name="TextBox 14">
            <a:extLst xmlns:a="http://schemas.openxmlformats.org/drawingml/2006/main">
              <a:ext uri="{FF2B5EF4-FFF2-40B4-BE49-F238E27FC236}">
                <a16:creationId xmlns:a16="http://schemas.microsoft.com/office/drawing/2014/main" id="{4C4AD2E8-7307-4899-AD5A-9E0C83087466}"/>
              </a:ext>
            </a:extLst>
          </p:cNvPr>
          <p:cNvSpPr>
            <a:spLocks xmlns:a="http://schemas.openxmlformats.org/drawingml/2006/main" noGrp="1"/>
          </p:cNvSpPr>
          <p:nvPr/>
        </p:nvSpPr>
        <p:spPr>
          <a:xfrm xmlns:a="http://schemas.openxmlformats.org/drawingml/2006/main">
            <a:off x="1081735" y="2468880"/>
            <a:ext cx="3261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4200" b="1">
                <a:solidFill>
                  <a:srgbClr val="087F69"/>
                </a:solidFill>
                <a:latin typeface="Arial"/>
                <a:ea typeface="Arial"/>
                <a:cs typeface="Arial"/>
              </a:defRPr>
            </a:pPr>
            <a:r>
              <a:rPr sz="4200" b="1">
                <a:solidFill>
                  <a:srgbClr val="087F69"/>
                </a:solidFill>
                <a:latin typeface="Arial"/>
                <a:ea typeface="Arial"/>
                <a:cs typeface="Arial"/>
              </a:rPr>
              <a:t>٠٣</a:t>
            </a:r>
          </a:p>
        </p:txBody>
      </p:sp>
      <p:sp>
        <p:nvSpPr>
          <p:cNvPr id="16" name="TextBox 15">
            <a:extLst xmlns:a="http://schemas.openxmlformats.org/drawingml/2006/main">
              <a:ext uri="{FF2B5EF4-FFF2-40B4-BE49-F238E27FC236}">
                <a16:creationId xmlns:a16="http://schemas.microsoft.com/office/drawing/2014/main" id="{520E09E5-F864-4A78-843A-67497F3AD55D}"/>
              </a:ext>
            </a:extLst>
          </p:cNvPr>
          <p:cNvSpPr>
            <a:spLocks xmlns:a="http://schemas.openxmlformats.org/drawingml/2006/main" noGrp="1"/>
          </p:cNvSpPr>
          <p:nvPr/>
        </p:nvSpPr>
        <p:spPr>
          <a:xfrm xmlns:a="http://schemas.openxmlformats.org/drawingml/2006/main">
            <a:off x="1081735" y="3337560"/>
            <a:ext cx="32613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0"/>
              </a:spcAft>
              <a:defRPr sz="2400" b="1">
                <a:solidFill>
                  <a:srgbClr val="142822"/>
                </a:solidFill>
                <a:latin typeface="Arial"/>
                <a:ea typeface="Arial"/>
                <a:cs typeface="Arial"/>
              </a:defRPr>
            </a:pPr>
            <a:r>
              <a:rPr sz="2400" b="1">
                <a:solidFill>
                  <a:srgbClr val="142822"/>
                </a:solidFill>
                <a:latin typeface="Arial"/>
                <a:ea typeface="Arial"/>
                <a:cs typeface="Arial"/>
              </a:rPr>
              <a:t>الأسبوعان ٧ و٨</a:t>
            </a:r>
          </a:p>
          <a:p xmlns:a="http://schemas.openxmlformats.org/drawingml/2006/main">
            <a:pPr algn="r">
              <a:spcAft>
                <a:spcPts val="0"/>
              </a:spcAft>
              <a:defRPr sz="2400" b="1">
                <a:solidFill>
                  <a:srgbClr val="142822"/>
                </a:solidFill>
                <a:latin typeface="Arial"/>
                <a:ea typeface="Arial"/>
                <a:cs typeface="Arial"/>
              </a:defRPr>
            </a:pPr>
            <a:r>
              <a:rPr sz="2400" b="1">
                <a:solidFill>
                  <a:srgbClr val="142822"/>
                </a:solidFill>
                <a:latin typeface="Arial"/>
                <a:ea typeface="Arial"/>
                <a:cs typeface="Arial"/>
              </a:rPr>
              <a:t>التقييم</a:t>
            </a:r>
          </a:p>
        </p:txBody>
      </p:sp>
      <p:sp>
        <p:nvSpPr>
          <p:cNvPr id="17" name="TextBox 16">
            <a:extLst xmlns:a="http://schemas.openxmlformats.org/drawingml/2006/main">
              <a:ext uri="{FF2B5EF4-FFF2-40B4-BE49-F238E27FC236}">
                <a16:creationId xmlns:a16="http://schemas.microsoft.com/office/drawing/2014/main" id="{21DAE71C-D0FB-4DF2-984C-6E1C3DD6D2A1}"/>
              </a:ext>
            </a:extLst>
          </p:cNvPr>
          <p:cNvSpPr>
            <a:spLocks xmlns:a="http://schemas.openxmlformats.org/drawingml/2006/main" noGrp="1"/>
          </p:cNvSpPr>
          <p:nvPr/>
        </p:nvSpPr>
        <p:spPr>
          <a:xfrm xmlns:a="http://schemas.openxmlformats.org/drawingml/2006/main">
            <a:off x="1173175" y="4251960"/>
            <a:ext cx="316992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900" b="0">
                <a:solidFill>
                  <a:srgbClr val="5B7069"/>
                </a:solidFill>
                <a:latin typeface="Arial"/>
                <a:ea typeface="Arial"/>
                <a:cs typeface="Arial"/>
              </a:defRPr>
            </a:pPr>
            <a:r>
              <a:rPr sz="1900" b="0">
                <a:solidFill>
                  <a:srgbClr val="5B7069"/>
                </a:solidFill>
                <a:latin typeface="Arial"/>
                <a:ea typeface="Arial"/>
                <a:cs typeface="Arial"/>
              </a:rPr>
              <a:t>قياس الاستخدام واكتمال التوثيق وزمن الاستجابة للموافقات وإتمام إجراءات التنسيق.</a:t>
            </a:r>
          </a:p>
        </p:txBody>
      </p:sp>
    </p:spTree>
    <p:extLst>
      <p:ext uri="{BB962C8B-B14F-4D97-AF65-F5344CB8AC3E}">
        <p14:creationId xmlns:p14="http://schemas.microsoft.com/office/powerpoint/2010/main" val="20891396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738325-2491-4965-804C-D2831ABD7863}"/>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1400DBD-181E-4CC0-97D9-BFA6C99E57EC}"/>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الخطوة التالية</a:t>
            </a:r>
          </a:p>
        </p:txBody>
      </p:sp>
      <p:sp>
        <p:nvSpPr>
          <p:cNvPr id="4" name="TextBox 3">
            <a:extLst xmlns:a="http://schemas.openxmlformats.org/drawingml/2006/main">
              <a:ext uri="{FF2B5EF4-FFF2-40B4-BE49-F238E27FC236}">
                <a16:creationId xmlns:a16="http://schemas.microsoft.com/office/drawing/2014/main" id="{AA11A2E0-A245-464D-A2F2-E747CE6EB31B}"/>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المدرسة المناسبة للتجربة</a:t>
            </a:r>
          </a:p>
        </p:txBody>
      </p:sp>
      <p:sp>
        <p:nvSpPr>
          <p:cNvPr id="5" name="TextBox 4">
            <a:extLst xmlns:a="http://schemas.openxmlformats.org/drawingml/2006/main">
              <a:ext uri="{FF2B5EF4-FFF2-40B4-BE49-F238E27FC236}">
                <a16:creationId xmlns:a16="http://schemas.microsoft.com/office/drawing/2014/main" id="{5A665E90-BFB1-4403-987A-7FC71192B7EA}"/>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التحقق من القيمة مع الأشخاص الذين سيستخدمون النظام يومياً</a:t>
            </a:r>
          </a:p>
        </p:txBody>
      </p:sp>
      <p:sp>
        <p:nvSpPr>
          <p:cNvPr id="6" name="Rectangle 5">
            <a:extLst xmlns:a="http://schemas.openxmlformats.org/drawingml/2006/main">
              <a:ext uri="{FF2B5EF4-FFF2-40B4-BE49-F238E27FC236}">
                <a16:creationId xmlns:a16="http://schemas.microsoft.com/office/drawing/2014/main" id="{CA739A66-70A7-4289-BC78-77ED57066AE3}"/>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64D1695-2CF5-440B-8AD0-B11872FD45EB}"/>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E08DDECD-4DF7-47B4-A7D6-66A71BB09EB2}"/>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١٩</a:t>
            </a:r>
          </a:p>
        </p:txBody>
      </p:sp>
      <p:sp>
        <p:nvSpPr>
          <p:cNvPr id="9" name="TextBox 8">
            <a:extLst xmlns:a="http://schemas.openxmlformats.org/drawingml/2006/main">
              <a:ext uri="{FF2B5EF4-FFF2-40B4-BE49-F238E27FC236}">
                <a16:creationId xmlns:a16="http://schemas.microsoft.com/office/drawing/2014/main" id="{3E152AD0-F191-4CC5-B2EA-D595093672B7}"/>
              </a:ext>
            </a:extLst>
          </p:cNvPr>
          <p:cNvSpPr>
            <a:spLocks xmlns:a="http://schemas.openxmlformats.org/drawingml/2006/main" noGrp="1"/>
          </p:cNvSpPr>
          <p:nvPr/>
        </p:nvSpPr>
        <p:spPr>
          <a:xfrm xmlns:a="http://schemas.openxmlformats.org/drawingml/2006/main">
            <a:off x="5150815" y="2606040"/>
            <a:ext cx="64008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000" b="1">
                <a:solidFill>
                  <a:srgbClr val="087F69"/>
                </a:solidFill>
                <a:latin typeface="Arial"/>
                <a:ea typeface="Arial"/>
                <a:cs typeface="Arial"/>
              </a:defRPr>
            </a:pPr>
            <a:r>
              <a:rPr sz="3000" b="1">
                <a:solidFill>
                  <a:srgbClr val="087F69"/>
                </a:solidFill>
                <a:latin typeface="Arial"/>
                <a:ea typeface="Arial"/>
                <a:cs typeface="Arial"/>
              </a:rPr>
              <a:t>البحث عن شريك للتطوير</a:t>
            </a:r>
          </a:p>
        </p:txBody>
      </p:sp>
      <p:sp>
        <p:nvSpPr>
          <p:cNvPr id="10" name="TextBox 9">
            <a:extLst xmlns:a="http://schemas.openxmlformats.org/drawingml/2006/main">
              <a:ext uri="{FF2B5EF4-FFF2-40B4-BE49-F238E27FC236}">
                <a16:creationId xmlns:a16="http://schemas.microsoft.com/office/drawing/2014/main" id="{F5C8D095-B0BA-4160-81EB-47844159E165}"/>
              </a:ext>
            </a:extLst>
          </p:cNvPr>
          <p:cNvSpPr>
            <a:spLocks xmlns:a="http://schemas.openxmlformats.org/drawingml/2006/main" noGrp="1"/>
          </p:cNvSpPr>
          <p:nvPr/>
        </p:nvSpPr>
        <p:spPr>
          <a:xfrm xmlns:a="http://schemas.openxmlformats.org/drawingml/2006/main">
            <a:off x="5059375" y="3474720"/>
            <a:ext cx="64922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400" b="0">
                <a:solidFill>
                  <a:srgbClr val="142822"/>
                </a:solidFill>
                <a:latin typeface="Arial"/>
                <a:ea typeface="Arial"/>
                <a:cs typeface="Arial"/>
              </a:defRPr>
            </a:pPr>
            <a:r>
              <a:rPr sz="2400" b="0">
                <a:solidFill>
                  <a:srgbClr val="142822"/>
                </a:solidFill>
                <a:latin typeface="Arial"/>
                <a:ea typeface="Arial"/>
                <a:cs typeface="Arial"/>
              </a:rPr>
              <a:t>فريق إدارة مدرسية وممرضة ومجموعة من أولياء الأمور يشاركون في تصميم الإطلاق وتحديد النجاح.</a:t>
            </a:r>
          </a:p>
        </p:txBody>
      </p:sp>
      <p:sp>
        <p:nvSpPr>
          <p:cNvPr id="11" name="TextBox 10">
            <a:extLst xmlns:a="http://schemas.openxmlformats.org/drawingml/2006/main">
              <a:ext uri="{FF2B5EF4-FFF2-40B4-BE49-F238E27FC236}">
                <a16:creationId xmlns:a16="http://schemas.microsoft.com/office/drawing/2014/main" id="{F90A57A3-4975-48B0-8D98-1D9B182E9B52}"/>
              </a:ext>
            </a:extLst>
          </p:cNvPr>
          <p:cNvSpPr>
            <a:spLocks xmlns:a="http://schemas.openxmlformats.org/drawingml/2006/main" noGrp="1"/>
          </p:cNvSpPr>
          <p:nvPr/>
        </p:nvSpPr>
        <p:spPr>
          <a:xfrm xmlns:a="http://schemas.openxmlformats.org/drawingml/2006/main">
            <a:off x="4967935" y="4754880"/>
            <a:ext cx="6583680" cy="1259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200" b="0">
                <a:solidFill>
                  <a:srgbClr val="5B7069"/>
                </a:solidFill>
                <a:latin typeface="Arial"/>
                <a:ea typeface="Arial"/>
                <a:cs typeface="Arial"/>
              </a:defRPr>
            </a:pPr>
            <a:r>
              <a:rPr sz="2200" b="0">
                <a:solidFill>
                  <a:srgbClr val="5B7069"/>
                </a:solidFill>
                <a:latin typeface="Arial"/>
                <a:ea typeface="Arial"/>
                <a:cs typeface="Arial"/>
              </a:rPr>
              <a:t>الاتفاق على نطاق التجربة</a:t>
            </a:r>
          </a:p>
          <a:p xmlns:a="http://schemas.openxmlformats.org/drawingml/2006/main">
            <a:pPr algn="r">
              <a:spcAft>
                <a:spcPts val="1000"/>
              </a:spcAft>
              <a:defRPr sz="2200" b="0">
                <a:solidFill>
                  <a:srgbClr val="5B7069"/>
                </a:solidFill>
                <a:latin typeface="Arial"/>
                <a:ea typeface="Arial"/>
                <a:cs typeface="Arial"/>
              </a:defRPr>
            </a:pPr>
            <a:r>
              <a:rPr sz="2200" b="0">
                <a:solidFill>
                  <a:srgbClr val="5B7069"/>
                </a:solidFill>
                <a:latin typeface="Arial"/>
                <a:ea typeface="Arial"/>
                <a:cs typeface="Arial"/>
              </a:rPr>
              <a:t>تعيين مسؤول للتشغيل</a:t>
            </a:r>
          </a:p>
          <a:p xmlns:a="http://schemas.openxmlformats.org/drawingml/2006/main">
            <a:pPr algn="r">
              <a:spcAft>
                <a:spcPts val="1000"/>
              </a:spcAft>
              <a:defRPr sz="2200" b="0">
                <a:solidFill>
                  <a:srgbClr val="5B7069"/>
                </a:solidFill>
                <a:latin typeface="Arial"/>
                <a:ea typeface="Arial"/>
                <a:cs typeface="Arial"/>
              </a:defRPr>
            </a:pPr>
            <a:r>
              <a:rPr sz="2200" b="0">
                <a:solidFill>
                  <a:srgbClr val="5B7069"/>
                </a:solidFill>
                <a:latin typeface="Arial"/>
                <a:ea typeface="Arial"/>
                <a:cs typeface="Arial"/>
              </a:rPr>
              <a:t>اختيار المقاييس المناسبة</a:t>
            </a:r>
          </a:p>
        </p:txBody>
      </p:sp>
      <p:sp>
        <p:nvSpPr>
          <p:cNvPr id="12" name="Rectangle 11">
            <a:extLst xmlns:a="http://schemas.openxmlformats.org/drawingml/2006/main">
              <a:ext uri="{FF2B5EF4-FFF2-40B4-BE49-F238E27FC236}">
                <a16:creationId xmlns:a16="http://schemas.microsoft.com/office/drawing/2014/main" id="{4ADC3880-A26D-45D8-8DF2-4F1175C03ACA}"/>
              </a:ext>
            </a:extLst>
          </p:cNvPr>
          <p:cNvSpPr>
            <a:spLocks xmlns:a="http://schemas.openxmlformats.org/drawingml/2006/main" noGrp="1"/>
          </p:cNvSpPr>
          <p:nvPr/>
        </p:nvSpPr>
        <p:spPr>
          <a:xfrm xmlns:a="http://schemas.openxmlformats.org/drawingml/2006/main">
            <a:off x="1650080" y="2153412"/>
            <a:ext cx="1895963" cy="4014215"/>
          </a:xfrm>
          <a:prstGeom xmlns:a="http://schemas.openxmlformats.org/drawingml/2006/main" prst="rect">
            <a:avLst/>
          </a:prstGeom>
          <a:solidFill xmlns:a="http://schemas.openxmlformats.org/drawingml/2006/main">
            <a:srgbClr val="14282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Picture 12"/>
          <p:cNvPicPr>
            <a:picLocks xmlns:a="http://schemas.openxmlformats.org/drawingml/2006/main" noChangeAspect="1"/>
          </p:cNvPicPr>
          <p:nvPr/>
        </p:nvPicPr>
        <p:blipFill>
          <a:blip xmlns:r="http://schemas.openxmlformats.org/officeDocument/2006/relationships" xmlns:a="http://schemas.openxmlformats.org/drawingml/2006/main" r:embed="R6be38934e1c843b1"/>
          <a:stretch xmlns:a="http://schemas.openxmlformats.org/drawingml/2006/main">
            <a:fillRect l="0" t="0" r="0" b="0"/>
          </a:stretch>
        </p:blipFill>
        <p:spPr>
          <a:xfrm xmlns:a="http://schemas.openxmlformats.org/drawingml/2006/main">
            <a:off x="1691228" y="2194560"/>
            <a:ext cx="1813667" cy="3931920"/>
          </a:xfrm>
          <a:prstGeom xmlns:a="http://schemas.openxmlformats.org/drawingml/2006/main" prst="rect">
            <a:avLst/>
          </a:prstGeom>
        </p:spPr>
      </p:pic>
    </p:spTree>
    <p:extLst>
      <p:ext uri="{BB962C8B-B14F-4D97-AF65-F5344CB8AC3E}">
        <p14:creationId xmlns:p14="http://schemas.microsoft.com/office/powerpoint/2010/main" val="16644899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0FA4B05-B53A-4F36-A16E-89B9A80C8A6F}"/>
              </a:ext>
            </a:extLst>
          </p:cNvPr>
          <p:cNvSpPr>
            <a:spLocks xmlns:a="http://schemas.openxmlformats.org/drawingml/2006/main" noGrp="1"/>
          </p:cNvSpPr>
          <p:nvPr/>
        </p:nvSpPr>
        <p:spPr>
          <a:xfrm xmlns:a="http://schemas.openxmlformats.org/drawingml/2006/main">
            <a:off x="12063679" y="0"/>
            <a:ext cx="128016" cy="6858000"/>
          </a:xfrm>
          <a:prstGeom xmlns:a="http://schemas.openxmlformats.org/drawingml/2006/main" prst="rect">
            <a:avLst/>
          </a:prstGeom>
          <a:solidFill xmlns:a="http://schemas.openxmlformats.org/drawingml/2006/main">
            <a:srgbClr val="087F6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12E3FFC1-7BD3-4E06-91FB-6DD087FA24FE}"/>
              </a:ext>
            </a:extLst>
          </p:cNvPr>
          <p:cNvSpPr>
            <a:spLocks xmlns:a="http://schemas.openxmlformats.org/drawingml/2006/main" noGrp="1"/>
          </p:cNvSpPr>
          <p:nvPr/>
        </p:nvSpPr>
        <p:spPr>
          <a:xfrm xmlns:a="http://schemas.openxmlformats.org/drawingml/2006/main">
            <a:off x="1630375" y="301752"/>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الأدلة ونطاق العرض</a:t>
            </a:r>
          </a:p>
        </p:txBody>
      </p:sp>
      <p:sp>
        <p:nvSpPr>
          <p:cNvPr id="4" name="TextBox 3">
            <a:extLst xmlns:a="http://schemas.openxmlformats.org/drawingml/2006/main">
              <a:ext uri="{FF2B5EF4-FFF2-40B4-BE49-F238E27FC236}">
                <a16:creationId xmlns:a16="http://schemas.microsoft.com/office/drawing/2014/main" id="{AC949411-E710-4908-BC69-1FBF51D49870}"/>
              </a:ext>
            </a:extLst>
          </p:cNvPr>
          <p:cNvSpPr>
            <a:spLocks xmlns:a="http://schemas.openxmlformats.org/drawingml/2006/main" noGrp="1"/>
          </p:cNvSpPr>
          <p:nvPr/>
        </p:nvSpPr>
        <p:spPr>
          <a:xfrm xmlns:a="http://schemas.openxmlformats.org/drawingml/2006/main">
            <a:off x="533095" y="822960"/>
            <a:ext cx="11155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3200" b="1">
                <a:solidFill>
                  <a:srgbClr val="142822"/>
                </a:solidFill>
                <a:latin typeface="Arial"/>
                <a:ea typeface="Arial"/>
                <a:cs typeface="Arial"/>
              </a:defRPr>
            </a:pPr>
            <a:r>
              <a:rPr sz="3200" b="1">
                <a:solidFill>
                  <a:srgbClr val="142822"/>
                </a:solidFill>
                <a:latin typeface="Arial"/>
                <a:ea typeface="Arial"/>
                <a:cs typeface="Arial"/>
              </a:rPr>
              <a:t>ما يوضحه هذا العرض</a:t>
            </a:r>
          </a:p>
        </p:txBody>
      </p:sp>
      <p:sp>
        <p:nvSpPr>
          <p:cNvPr id="5" name="TextBox 4">
            <a:extLst xmlns:a="http://schemas.openxmlformats.org/drawingml/2006/main">
              <a:ext uri="{FF2B5EF4-FFF2-40B4-BE49-F238E27FC236}">
                <a16:creationId xmlns:a16="http://schemas.microsoft.com/office/drawing/2014/main" id="{0E9AEA56-ED30-4D7C-9EA0-44D09AC026E1}"/>
              </a:ext>
            </a:extLst>
          </p:cNvPr>
          <p:cNvSpPr>
            <a:spLocks xmlns:a="http://schemas.openxmlformats.org/drawingml/2006/main" noGrp="1"/>
          </p:cNvSpPr>
          <p:nvPr/>
        </p:nvSpPr>
        <p:spPr>
          <a:xfrm xmlns:a="http://schemas.openxmlformats.org/drawingml/2006/main">
            <a:off x="624535" y="1673352"/>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500" b="0">
                <a:solidFill>
                  <a:srgbClr val="5B7069"/>
                </a:solidFill>
                <a:latin typeface="Arial"/>
                <a:ea typeface="Arial"/>
                <a:cs typeface="Arial"/>
              </a:defRPr>
            </a:pPr>
            <a:r>
              <a:rPr sz="1500" b="0">
                <a:solidFill>
                  <a:srgbClr val="5B7069"/>
                </a:solidFill>
                <a:latin typeface="Arial"/>
                <a:ea typeface="Arial"/>
                <a:cs typeface="Arial"/>
              </a:rPr>
              <a:t>توثق اللقطات تجربة التطبيق الحالية، ولا تثبت نتائج تجارية أو سريرية</a:t>
            </a:r>
          </a:p>
        </p:txBody>
      </p:sp>
      <p:sp>
        <p:nvSpPr>
          <p:cNvPr id="6" name="Rectangle 5">
            <a:extLst xmlns:a="http://schemas.openxmlformats.org/drawingml/2006/main">
              <a:ext uri="{FF2B5EF4-FFF2-40B4-BE49-F238E27FC236}">
                <a16:creationId xmlns:a16="http://schemas.microsoft.com/office/drawing/2014/main" id="{9E694DA1-C317-4DAD-86A1-4F93B3D0430C}"/>
              </a:ext>
            </a:extLst>
          </p:cNvPr>
          <p:cNvSpPr>
            <a:spLocks xmlns:a="http://schemas.openxmlformats.org/drawingml/2006/main" noGrp="1"/>
          </p:cNvSpPr>
          <p:nvPr/>
        </p:nvSpPr>
        <p:spPr>
          <a:xfrm xmlns:a="http://schemas.openxmlformats.org/drawingml/2006/main">
            <a:off x="533095" y="6419088"/>
            <a:ext cx="11155680" cy="10972"/>
          </a:xfrm>
          <a:prstGeom xmlns:a="http://schemas.openxmlformats.org/drawingml/2006/main" prst="rect">
            <a:avLst/>
          </a:prstGeom>
          <a:solidFill xmlns:a="http://schemas.openxmlformats.org/drawingml/2006/main">
            <a:srgbClr val="DCE8E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A79A5926-EA3F-43F6-90D9-A6799E825B8A}"/>
              </a:ext>
            </a:extLst>
          </p:cNvPr>
          <p:cNvSpPr>
            <a:spLocks xmlns:a="http://schemas.openxmlformats.org/drawingml/2006/main" noGrp="1"/>
          </p:cNvSpPr>
          <p:nvPr/>
        </p:nvSpPr>
        <p:spPr>
          <a:xfrm xmlns:a="http://schemas.openxmlformats.org/drawingml/2006/main">
            <a:off x="2544775" y="6537960"/>
            <a:ext cx="9144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900" b="0">
                <a:solidFill>
                  <a:srgbClr val="5B7069"/>
                </a:solidFill>
                <a:latin typeface="Arial"/>
                <a:ea typeface="Arial"/>
                <a:cs typeface="Arial"/>
              </a:defRPr>
            </a:pPr>
            <a:r>
              <a:rPr sz="900" b="0">
                <a:solidFill>
                  <a:srgbClr val="5B7069"/>
                </a:solidFill>
                <a:latin typeface="Arial"/>
                <a:ea typeface="Arial"/>
                <a:cs typeface="Arial"/>
              </a:rPr>
              <a:t>SchooKeep     عرض المنتج     ٥ أكتوبر ٢٠٢٦</a:t>
            </a:r>
          </a:p>
        </p:txBody>
      </p:sp>
      <p:sp>
        <p:nvSpPr>
          <p:cNvPr id="8" name="TextBox 7">
            <a:extLst xmlns:a="http://schemas.openxmlformats.org/drawingml/2006/main">
              <a:ext uri="{FF2B5EF4-FFF2-40B4-BE49-F238E27FC236}">
                <a16:creationId xmlns:a16="http://schemas.microsoft.com/office/drawing/2014/main" id="{74E60455-0CD6-447C-B87A-F7D51E95CB76}"/>
              </a:ext>
            </a:extLst>
          </p:cNvPr>
          <p:cNvSpPr>
            <a:spLocks xmlns:a="http://schemas.openxmlformats.org/drawingml/2006/main" noGrp="1"/>
          </p:cNvSpPr>
          <p:nvPr/>
        </p:nvSpPr>
        <p:spPr>
          <a:xfrm xmlns:a="http://schemas.openxmlformats.org/drawingml/2006/main">
            <a:off x="578815" y="6510528"/>
            <a:ext cx="548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100" b="1">
                <a:solidFill>
                  <a:srgbClr val="087F69"/>
                </a:solidFill>
                <a:latin typeface="Arial"/>
                <a:ea typeface="Arial"/>
                <a:cs typeface="Arial"/>
              </a:defRPr>
            </a:pPr>
            <a:r>
              <a:rPr sz="1100" b="1">
                <a:solidFill>
                  <a:srgbClr val="087F69"/>
                </a:solidFill>
                <a:latin typeface="Arial"/>
                <a:ea typeface="Arial"/>
                <a:cs typeface="Arial"/>
              </a:rPr>
              <a:t>٢٠</a:t>
            </a:r>
          </a:p>
        </p:txBody>
      </p:sp>
      <p:sp>
        <p:nvSpPr>
          <p:cNvPr id="9" name="TextBox 8">
            <a:extLst xmlns:a="http://schemas.openxmlformats.org/drawingml/2006/main">
              <a:ext uri="{FF2B5EF4-FFF2-40B4-BE49-F238E27FC236}">
                <a16:creationId xmlns:a16="http://schemas.microsoft.com/office/drawing/2014/main" id="{32C26E68-00B2-4DD9-962E-515AA2E38778}"/>
              </a:ext>
            </a:extLst>
          </p:cNvPr>
          <p:cNvSpPr>
            <a:spLocks xmlns:a="http://schemas.openxmlformats.org/drawingml/2006/main" noGrp="1"/>
          </p:cNvSpPr>
          <p:nvPr/>
        </p:nvSpPr>
        <p:spPr>
          <a:xfrm xmlns:a="http://schemas.openxmlformats.org/drawingml/2006/main">
            <a:off x="6979615" y="246888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200" b="1">
                <a:solidFill>
                  <a:srgbClr val="142822"/>
                </a:solidFill>
                <a:latin typeface="Arial"/>
                <a:ea typeface="Arial"/>
                <a:cs typeface="Arial"/>
              </a:defRPr>
            </a:pPr>
            <a:r>
              <a:rPr sz="2200" b="1">
                <a:solidFill>
                  <a:srgbClr val="142822"/>
                </a:solidFill>
                <a:latin typeface="Arial"/>
                <a:ea typeface="Arial"/>
                <a:cs typeface="Arial"/>
              </a:rPr>
              <a:t>طريقة التقاط الشاشات</a:t>
            </a:r>
          </a:p>
        </p:txBody>
      </p:sp>
      <p:sp>
        <p:nvSpPr>
          <p:cNvPr id="10" name="TextBox 9">
            <a:extLst xmlns:a="http://schemas.openxmlformats.org/drawingml/2006/main">
              <a:ext uri="{FF2B5EF4-FFF2-40B4-BE49-F238E27FC236}">
                <a16:creationId xmlns:a16="http://schemas.microsoft.com/office/drawing/2014/main" id="{F507390C-7C83-4391-A601-2FFCB7EA1D8A}"/>
              </a:ext>
            </a:extLst>
          </p:cNvPr>
          <p:cNvSpPr>
            <a:spLocks xmlns:a="http://schemas.openxmlformats.org/drawingml/2006/main" noGrp="1"/>
          </p:cNvSpPr>
          <p:nvPr/>
        </p:nvSpPr>
        <p:spPr>
          <a:xfrm xmlns:a="http://schemas.openxmlformats.org/drawingml/2006/main">
            <a:off x="6568135" y="2999232"/>
            <a:ext cx="498348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800" b="0">
                <a:solidFill>
                  <a:srgbClr val="5B7069"/>
                </a:solidFill>
                <a:latin typeface="Arial"/>
                <a:ea typeface="Arial"/>
                <a:cs typeface="Arial"/>
              </a:defRPr>
            </a:pPr>
            <a:r>
              <a:rPr sz="1800" b="0">
                <a:solidFill>
                  <a:srgbClr val="5B7069"/>
                </a:solidFill>
                <a:latin typeface="Arial"/>
                <a:ea typeface="Arial"/>
                <a:cs typeface="Arial"/>
              </a:rPr>
              <a:t>نسخة الويب من Flutter بإعدادات الإصدار، وعرض جوال بعرض ٣٩٣ وارتفاع ٨٥٢ بكسل. خادم Laravel محلي ببيانات تجريبية وحساب الإدارة المقدم. أيقونات أصلية وخط Arial بديل للخطوط المحمّلة عبر الشبكة.</a:t>
            </a:r>
          </a:p>
        </p:txBody>
      </p:sp>
      <p:sp>
        <p:nvSpPr>
          <p:cNvPr id="11" name="TextBox 10">
            <a:extLst xmlns:a="http://schemas.openxmlformats.org/drawingml/2006/main">
              <a:ext uri="{FF2B5EF4-FFF2-40B4-BE49-F238E27FC236}">
                <a16:creationId xmlns:a16="http://schemas.microsoft.com/office/drawing/2014/main" id="{DAFA9454-0456-492D-AE67-F30DB21CEE5E}"/>
              </a:ext>
            </a:extLst>
          </p:cNvPr>
          <p:cNvSpPr>
            <a:spLocks xmlns:a="http://schemas.openxmlformats.org/drawingml/2006/main" noGrp="1"/>
          </p:cNvSpPr>
          <p:nvPr/>
        </p:nvSpPr>
        <p:spPr>
          <a:xfrm xmlns:a="http://schemas.openxmlformats.org/drawingml/2006/main">
            <a:off x="761695" y="2468880"/>
            <a:ext cx="5029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2200" b="1">
                <a:solidFill>
                  <a:srgbClr val="142822"/>
                </a:solidFill>
                <a:latin typeface="Arial"/>
                <a:ea typeface="Arial"/>
                <a:cs typeface="Arial"/>
              </a:defRPr>
            </a:pPr>
            <a:r>
              <a:rPr sz="2200" b="1">
                <a:solidFill>
                  <a:srgbClr val="142822"/>
                </a:solidFill>
                <a:latin typeface="Arial"/>
                <a:ea typeface="Arial"/>
                <a:cs typeface="Arial"/>
              </a:rPr>
              <a:t>حدود العرض</a:t>
            </a:r>
          </a:p>
        </p:txBody>
      </p:sp>
      <p:sp>
        <p:nvSpPr>
          <p:cNvPr id="12" name="TextBox 11">
            <a:extLst xmlns:a="http://schemas.openxmlformats.org/drawingml/2006/main">
              <a:ext uri="{FF2B5EF4-FFF2-40B4-BE49-F238E27FC236}">
                <a16:creationId xmlns:a16="http://schemas.microsoft.com/office/drawing/2014/main" id="{65573DDF-DF24-464C-86CE-57F10B780843}"/>
              </a:ext>
            </a:extLst>
          </p:cNvPr>
          <p:cNvSpPr>
            <a:spLocks xmlns:a="http://schemas.openxmlformats.org/drawingml/2006/main" noGrp="1"/>
          </p:cNvSpPr>
          <p:nvPr/>
        </p:nvSpPr>
        <p:spPr>
          <a:xfrm xmlns:a="http://schemas.openxmlformats.org/drawingml/2006/main">
            <a:off x="807415" y="2999232"/>
            <a:ext cx="498348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800" b="0">
                <a:solidFill>
                  <a:srgbClr val="5B7069"/>
                </a:solidFill>
                <a:latin typeface="Arial"/>
                <a:ea typeface="Arial"/>
                <a:cs typeface="Arial"/>
              </a:defRPr>
            </a:pPr>
            <a:r>
              <a:rPr sz="1800" b="0">
                <a:solidFill>
                  <a:srgbClr val="5B7069"/>
                </a:solidFill>
                <a:latin typeface="Arial"/>
                <a:ea typeface="Arial"/>
                <a:cs typeface="Arial"/>
              </a:rPr>
              <a:t>تعرض الشاشات بيانات تجريبية، وتستخدم بعض المسارات معرّفات أو حالات ثابتة. لم تُختبر الخرائط والخدمات الخارجية. لا يثبت العرض تشغيل الإنتاج أو النتائج السريرية أو شهادات الأمان أو الانتشار التجاري أو الأسعار أو التكاملات.</a:t>
            </a:r>
          </a:p>
        </p:txBody>
      </p:sp>
      <p:sp>
        <p:nvSpPr>
          <p:cNvPr id="13" name="TextBox 12">
            <a:extLst xmlns:a="http://schemas.openxmlformats.org/drawingml/2006/main">
              <a:ext uri="{FF2B5EF4-FFF2-40B4-BE49-F238E27FC236}">
                <a16:creationId xmlns:a16="http://schemas.microsoft.com/office/drawing/2014/main" id="{801F2CDB-5738-4763-A2EA-1656F1588926}"/>
              </a:ext>
            </a:extLst>
          </p:cNvPr>
          <p:cNvSpPr>
            <a:spLocks xmlns:a="http://schemas.openxmlformats.org/drawingml/2006/main" noGrp="1"/>
          </p:cNvSpPr>
          <p:nvPr/>
        </p:nvSpPr>
        <p:spPr>
          <a:xfrm xmlns:a="http://schemas.openxmlformats.org/drawingml/2006/main">
            <a:off x="1036015" y="5623560"/>
            <a:ext cx="105156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spcAft>
                <a:spcPts val="1000"/>
              </a:spcAft>
              <a:defRPr sz="1800" b="1">
                <a:solidFill>
                  <a:srgbClr val="087F69"/>
                </a:solidFill>
                <a:latin typeface="Arial"/>
                <a:ea typeface="Arial"/>
                <a:cs typeface="Arial"/>
              </a:defRPr>
            </a:pPr>
            <a:r>
              <a:rPr sz="1800" b="1">
                <a:solidFill>
                  <a:srgbClr val="087F69"/>
                </a:solidFill>
                <a:latin typeface="Arial"/>
                <a:ea typeface="Arial"/>
                <a:cs typeface="Arial"/>
              </a:rPr>
              <a:t>المرفقات: مكتبة لقطات مفهرسة حسب المسار، ومعرض في المتصفح، وعرض PowerPoint قابل للتحرير.</a:t>
            </a:r>
          </a:p>
        </p:txBody>
      </p:sp>
    </p:spTree>
    <p:extLst>
      <p:ext uri="{BB962C8B-B14F-4D97-AF65-F5344CB8AC3E}">
        <p14:creationId xmlns:p14="http://schemas.microsoft.com/office/powerpoint/2010/main" val="130076841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2026-10-07T07:59:40.0050000Z</dcterms:created>
  <dcterms:modified xsi:type="dcterms:W3CDTF">2026-10-07T07:59:40.0050000Z</dcterms:modified>
</coreProperties>
</file>